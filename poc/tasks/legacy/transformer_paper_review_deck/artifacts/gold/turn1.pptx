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097280" cy="54406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_title"/>
          <p:cNvSpPr txBox="1"/>
          <p:nvPr/>
        </p:nvSpPr>
        <p:spPr>
          <a:xfrm>
            <a:off x="1993392" y="987552"/>
            <a:ext cx="7680960" cy="58521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172033"/>
                </a:solidFill>
              </a:rPr>
              <a:t>Attention Is All You Need</a:t>
            </a:r>
          </a:p>
        </p:txBody>
      </p:sp>
      <p:sp>
        <p:nvSpPr>
          <p:cNvPr id="5" name="deck_subtitle"/>
          <p:cNvSpPr txBox="1"/>
          <p:nvPr/>
        </p:nvSpPr>
        <p:spPr>
          <a:xfrm>
            <a:off x="2029968" y="1700784"/>
            <a:ext cx="713232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262A38"/>
                </a:solidFill>
              </a:rPr>
              <a:t>Reading group review: Transformer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" y="2157984"/>
            <a:ext cx="6766560" cy="23774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56667A"/>
                </a:solidFill>
              </a:rPr>
              <a:t>Vaswani et al. | arXiv:1706.03762 | NeurIPS 2017</a:t>
            </a:r>
          </a:p>
        </p:txBody>
      </p:sp>
      <p:sp>
        <p:nvSpPr>
          <p:cNvPr id="7" name="main_claim_box"/>
          <p:cNvSpPr/>
          <p:nvPr/>
        </p:nvSpPr>
        <p:spPr>
          <a:xfrm>
            <a:off x="2029968" y="2788920"/>
            <a:ext cx="48920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Main claim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Transformer replaces recurrence with attention for sequence transduction.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Parallelizable architecture plus attention layers delivered strong MT results.</a:t>
            </a:r>
          </a:p>
        </p:txBody>
      </p:sp>
      <p:sp>
        <p:nvSpPr>
          <p:cNvPr id="8" name="review_lens_box"/>
          <p:cNvSpPr/>
          <p:nvPr/>
        </p:nvSpPr>
        <p:spPr>
          <a:xfrm>
            <a:off x="7360920" y="2788920"/>
            <a:ext cx="3337560" cy="141732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Review lens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Architecture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Attention formula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Discussion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hitecture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Transformer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FIGURE 1</a:t>
            </a:r>
          </a:p>
        </p:txBody>
      </p:sp>
      <p:sp>
        <p:nvSpPr>
          <p:cNvPr id="5" name="architecture_stage"/>
          <p:cNvSpPr/>
          <p:nvPr/>
        </p:nvSpPr>
        <p:spPr>
          <a:xfrm>
            <a:off x="640080" y="1078992"/>
            <a:ext cx="4251960" cy="5074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transformer_architecture_figure" descr="figure1_trans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25296"/>
            <a:ext cx="2964113" cy="4526280"/>
          </a:xfrm>
          <a:prstGeom prst="rect">
            <a:avLst/>
          </a:prstGeom>
        </p:spPr>
      </p:pic>
      <p:sp>
        <p:nvSpPr>
          <p:cNvPr id="7" name="architecture_caption"/>
          <p:cNvSpPr txBox="1"/>
          <p:nvPr/>
        </p:nvSpPr>
        <p:spPr>
          <a:xfrm>
            <a:off x="804672" y="5897880"/>
            <a:ext cx="379476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19" b="0">
                <a:solidFill>
                  <a:srgbClr val="56667A"/>
                </a:solidFill>
              </a:rPr>
              <a:t>Source figure: Transformer architecture (Figure 1)</a:t>
            </a:r>
          </a:p>
        </p:txBody>
      </p:sp>
      <p:sp>
        <p:nvSpPr>
          <p:cNvPr id="8" name="architecture_summary"/>
          <p:cNvSpPr/>
          <p:nvPr/>
        </p:nvSpPr>
        <p:spPr>
          <a:xfrm>
            <a:off x="5623560" y="1325880"/>
            <a:ext cx="5349240" cy="1874519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What to notice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Encoder and decoder are stacks, not recurrent chains.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Attention is the central routing operation.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layout makes parallel training natural.</a:t>
            </a:r>
          </a:p>
        </p:txBody>
      </p:sp>
      <p:sp>
        <p:nvSpPr>
          <p:cNvPr id="9" name="architecture_note"/>
          <p:cNvSpPr/>
          <p:nvPr/>
        </p:nvSpPr>
        <p:spPr>
          <a:xfrm>
            <a:off x="5623560" y="3749039"/>
            <a:ext cx="5349240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Seminar note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Use this figure to explain why the paper changed the default mental model for sequence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rmula_slide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Scaled Dot-Product 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FORMULA + FIGURE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5806440" cy="3547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attention_mechanism_figure" descr="figure2_attention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20"/>
            <a:ext cx="5257800" cy="2802273"/>
          </a:xfrm>
          <a:prstGeom prst="rect">
            <a:avLst/>
          </a:prstGeom>
        </p:spPr>
      </p:pic>
      <p:sp>
        <p:nvSpPr>
          <p:cNvPr id="7" name="formula_context"/>
          <p:cNvSpPr/>
          <p:nvPr/>
        </p:nvSpPr>
        <p:spPr>
          <a:xfrm>
            <a:off x="6629400" y="1298448"/>
            <a:ext cx="4343400" cy="109728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Scaled dot-product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Inputs are queries Q, keys K, and values V.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Scaling by sqrt(d_k) stabilizes the softmax.</a:t>
            </a:r>
          </a:p>
        </p:txBody>
      </p:sp>
      <p:sp>
        <p:nvSpPr>
          <p:cNvPr id="8" name="attention_formula_text"/>
          <p:cNvSpPr txBox="1"/>
          <p:nvPr/>
        </p:nvSpPr>
        <p:spPr>
          <a:xfrm>
            <a:off x="6565392" y="2724912"/>
            <a:ext cx="461772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</a:rPr>
              <a:t>Attention(Q, K, V) = softmax(QK^T / sqrt(d_k))V</a:t>
            </a:r>
          </a:p>
        </p:txBody>
      </p:sp>
      <p:pic>
        <p:nvPicPr>
          <p:cNvPr id="9" name="attention_formula_image" descr="attention_formula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291840"/>
            <a:ext cx="4251960" cy="696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1968" y="3968496"/>
            <a:ext cx="406908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</a:rPr>
              <a:t>Formula from paper PDF, Section 3.2.1</a:t>
            </a:r>
          </a:p>
        </p:txBody>
      </p:sp>
      <p:sp>
        <p:nvSpPr>
          <p:cNvPr id="11" name="why_it_matters"/>
          <p:cNvSpPr txBox="1"/>
          <p:nvPr/>
        </p:nvSpPr>
        <p:spPr>
          <a:xfrm>
            <a:off x="658368" y="5285232"/>
            <a:ext cx="8046720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62A38"/>
                </a:solidFill>
              </a:rPr>
              <a:t>Why it matters: attention replaces recurrence for sequence transduction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erdict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Paper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38404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Paper verdict</a:t>
            </a:r>
          </a:p>
        </p:txBody>
      </p:sp>
      <p:sp>
        <p:nvSpPr>
          <p:cNvPr id="6" name="strength_card"/>
          <p:cNvSpPr/>
          <p:nvPr/>
        </p:nvSpPr>
        <p:spPr>
          <a:xfrm>
            <a:off x="713232" y="1700784"/>
            <a:ext cx="50749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Strength: parallelizable sequence modeling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paper made attention a practical replacement for recurrence.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It offered a cleaner path to scale training across positions.</a:t>
            </a:r>
          </a:p>
        </p:txBody>
      </p:sp>
      <p:sp>
        <p:nvSpPr>
          <p:cNvPr id="7" name="question_card"/>
          <p:cNvSpPr/>
          <p:nvPr/>
        </p:nvSpPr>
        <p:spPr>
          <a:xfrm>
            <a:off x="6355080" y="1700784"/>
            <a:ext cx="4754880" cy="141732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Question: what breaks when context grows?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Quadratic attention cost becomes the pressure point.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Modern variants still negotiate this original design tradeoff.</a:t>
            </a:r>
          </a:p>
        </p:txBody>
      </p:sp>
      <p:sp>
        <p:nvSpPr>
          <p:cNvPr id="8" name="reading_group_card"/>
          <p:cNvSpPr/>
          <p:nvPr/>
        </p:nvSpPr>
        <p:spPr>
          <a:xfrm>
            <a:off x="713232" y="3858768"/>
            <a:ext cx="5074920" cy="150876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For the reading group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Explain Figure 1 first.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Use the formula to connect the architecture to computation.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End with the scaling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Lab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685800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C63D37"/>
                </a:solidFill>
              </a:rPr>
              <a:t>Do not edit: Transformer seminar logistics invariant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93392"/>
            <a:ext cx="5303520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Seminar metadata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Reading group: SNUPI Office Agents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Room: 302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Time box: 25 min review + 20 min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93392"/>
            <a:ext cx="4572000" cy="173736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Benchmark invariant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This slide is used to detect collateral damage.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Agent should preserve every text box on this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Protected context slide | Do not 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