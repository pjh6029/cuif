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xt_title"/>
          <p:cNvSpPr txBox="1"/>
          <p:nvPr/>
        </p:nvSpPr>
        <p:spPr>
          <a:xfrm>
            <a:off x="502920" y="5029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</a:rPr>
              <a:t>Atlas Reliability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76F51"/>
                </a:solidFill>
              </a:rPr>
              <a:t>Do not edit: Task A context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7680960" cy="210312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172033"/>
                </a:solidFill>
              </a:rPr>
              <a:t>Context</a:t>
            </a:r>
          </a:p>
          <a:p>
            <a:r>
              <a:rPr sz="1400" b="0">
                <a:solidFill>
                  <a:srgbClr val="172033"/>
                </a:solidFill>
              </a:rPr>
              <a:t>This deck is used to validate visual-instruction grounding and non-target preservation for editable PPTX artifacts.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97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16E7C"/>
                </a:solidFill>
              </a:rPr>
              <a:t>Protected slide: preserve exact text in all turns.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ashboard_title"/>
          <p:cNvSpPr txBox="1"/>
          <p:nvPr/>
        </p:nvSpPr>
        <p:spPr>
          <a:xfrm>
            <a:off x="502920" y="32004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</a:rPr>
              <a:t>Service Reliability Dashboard</a:t>
            </a:r>
          </a:p>
        </p:txBody>
      </p:sp>
      <p:sp>
        <p:nvSpPr>
          <p:cNvPr id="3" name="seed_checkout_metric"/>
          <p:cNvSpPr/>
          <p:nvPr/>
        </p:nvSpPr>
        <p:spPr>
          <a:xfrm>
            <a:off x="5852160" y="914400"/>
            <a:ext cx="2377440" cy="777240"/>
          </a:xfrm>
          <a:prstGeom prst="roundRect">
            <a:avLst/>
          </a:prstGeom>
          <a:solidFill>
            <a:srgbClr val="FFFBF0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Checkout SLA 97.2%</a:t>
            </a:r>
          </a:p>
          <a:p>
            <a:r>
              <a:rPr sz="1200" b="0">
                <a:solidFill>
                  <a:srgbClr val="172033"/>
                </a:solidFill>
              </a:rPr>
              <a:t>Target ≥ 99%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286000" cy="777240"/>
          </a:xfrm>
          <a:prstGeom prst="roundRect">
            <a:avLst/>
          </a:prstGeom>
          <a:solidFill>
            <a:srgbClr val="FFFBF0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Queue backlog 42</a:t>
            </a:r>
          </a:p>
          <a:p>
            <a:r>
              <a:rPr sz="1200" b="0">
                <a:solidFill>
                  <a:srgbClr val="172033"/>
                </a:solidFill>
              </a:rPr>
              <a:t>Owner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4389120"/>
            <a:ext cx="2377440" cy="777240"/>
          </a:xfrm>
          <a:prstGeom prst="roundRect">
            <a:avLst/>
          </a:prstGeom>
          <a:solidFill>
            <a:srgbClr val="FFFBF0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Alert fatigue 18%</a:t>
            </a:r>
          </a:p>
          <a:p>
            <a:r>
              <a:rPr sz="1200" b="0">
                <a:solidFill>
                  <a:srgbClr val="172033"/>
                </a:solidFill>
              </a:rPr>
              <a:t>Duplicate pages</a:t>
            </a:r>
          </a:p>
        </p:txBody>
      </p:sp>
      <p:sp>
        <p:nvSpPr>
          <p:cNvPr id="6" name="seed_trend_panel"/>
          <p:cNvSpPr/>
          <p:nvPr/>
        </p:nvSpPr>
        <p:spPr>
          <a:xfrm>
            <a:off x="822960" y="2971800"/>
            <a:ext cx="3474720" cy="118872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400" b="1">
                <a:solidFill>
                  <a:srgbClr val="172033"/>
                </a:solidFill>
              </a:rPr>
              <a:t>Service health trend</a:t>
            </a:r>
          </a:p>
          <a:p>
            <a:r>
              <a:rPr sz="1100" b="0">
                <a:solidFill>
                  <a:srgbClr val="172033"/>
                </a:solidFill>
              </a:rPr>
              <a:t>Too small and off-grid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097280" y="3429000"/>
            <a:ext cx="640080" cy="320039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737360" y="3429000"/>
            <a:ext cx="640080" cy="18288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377440" y="3154680"/>
            <a:ext cx="731520" cy="45720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108960" y="3154680"/>
            <a:ext cx="731520" cy="182880"/>
          </a:xfrm>
          <a:prstGeom prst="line">
            <a:avLst/>
          </a:prstGeom>
          <a:ln w="2540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0" y="1874519"/>
            <a:ext cx="2834640" cy="960120"/>
          </a:xfrm>
          <a:prstGeom prst="roundRect">
            <a:avLst/>
          </a:prstGeom>
          <a:solidFill>
            <a:srgbClr val="FFF2EC"/>
          </a:solidFill>
          <a:ln w="15875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Hotspot: checkout latency</a:t>
            </a:r>
          </a:p>
          <a:p>
            <a:r>
              <a:rPr sz="1200" b="0">
                <a:solidFill>
                  <a:srgbClr val="172033"/>
                </a:solidFill>
              </a:rPr>
              <a:t>Needs lower-right callout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16E7C"/>
                </a:solidFill>
              </a:rPr>
              <a:t>Annotated screenshot says: top-row metrics, big trend panel, risk callout lower-right.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</a:rPr>
              <a:t>Runbook Evidence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76F51"/>
                </a:solidFill>
              </a:rPr>
              <a:t>Do not edit: runbook evidence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7223760" cy="22860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172033"/>
                </a:solidFill>
              </a:rPr>
              <a:t>Protected evidence</a:t>
            </a:r>
          </a:p>
          <a:p>
            <a:r>
              <a:rPr sz="1400" b="0">
                <a:solidFill>
                  <a:srgbClr val="172033"/>
                </a:solidFill>
              </a:rPr>
              <a:t>• Escalation policy version: 2026-Q2</a:t>
            </a:r>
          </a:p>
          <a:p>
            <a:r>
              <a:rPr sz="1400" b="0">
                <a:solidFill>
                  <a:srgbClr val="172033"/>
                </a:solidFill>
              </a:rPr>
              <a:t>• On-call rotation owner: Platform SRE</a:t>
            </a:r>
          </a:p>
          <a:p>
            <a:r>
              <a:rPr sz="1400" b="0">
                <a:solidFill>
                  <a:srgbClr val="172033"/>
                </a:solidFill>
              </a:rPr>
              <a:t>• Audit ticket: OPS-4721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</a:rPr>
              <a:t>Benchmark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76F51"/>
                </a:solidFill>
              </a:rPr>
              <a:t>Do not edit: annotated repair benchmark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7223760" cy="210312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172033"/>
                </a:solidFill>
              </a:rPr>
              <a:t>Scoring controls</a:t>
            </a:r>
          </a:p>
          <a:p>
            <a:r>
              <a:rPr sz="1400" b="0">
                <a:solidFill>
                  <a:srgbClr val="172033"/>
                </a:solidFill>
              </a:rPr>
              <a:t>This slide should remain unchanged while agents repair the annotated dashboard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