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7132320" cy="50292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Nimbus Reliability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6400800" cy="329184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Executive context for April service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828800"/>
            <a:ext cx="539496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Scope: support, SRE, and comms readiness
Primary KPI: restore severity-2 ownership discipline
Do not edit: Nimbus context invariant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901952"/>
            <a:ext cx="4480560" cy="530352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6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72033"/>
                </a:solidFill>
              </a:rPr>
              <a:t>Protected slide for collateral-damage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4848" y="2633472"/>
            <a:ext cx="3749039" cy="38404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600" b="0">
                <a:solidFill>
                  <a:srgbClr val="586778"/>
                </a:solidFill>
              </a:rPr>
              <a:t>Revision target is slide 2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2_title"/>
          <p:cNvSpPr txBox="1"/>
          <p:nvPr/>
        </p:nvSpPr>
        <p:spPr>
          <a:xfrm>
            <a:off x="530352" y="310896"/>
            <a:ext cx="658368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2800" b="1">
                <a:solidFill>
                  <a:srgbClr val="172033"/>
                </a:solidFill>
              </a:rPr>
              <a:t>Reliability Operations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384048"/>
            <a:ext cx="2084831" cy="3108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50" b="1">
                <a:solidFill>
                  <a:srgbClr val="1F4E79"/>
                </a:solidFill>
              </a:rPr>
              <a:t>APRIL SERVICE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841248"/>
            <a:ext cx="740664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300" b="0">
                <a:solidFill>
                  <a:srgbClr val="586778"/>
                </a:solidFill>
              </a:rPr>
              <a:t>Edited slide: annotated screenshot applied to the target dashboard.</a:t>
            </a:r>
          </a:p>
        </p:txBody>
      </p:sp>
      <p:sp>
        <p:nvSpPr>
          <p:cNvPr id="6" name="MTTA 8 min&#10;Target &lt;=10 min&#10;+2 min buffer"/>
          <p:cNvSpPr/>
          <p:nvPr/>
        </p:nvSpPr>
        <p:spPr>
          <a:xfrm>
            <a:off x="621792" y="1188720"/>
            <a:ext cx="2816352" cy="859536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MTTA 8 min
Target &lt;=10 min
+2 min buffer</a:t>
            </a:r>
          </a:p>
        </p:txBody>
      </p:sp>
      <p:sp>
        <p:nvSpPr>
          <p:cNvPr id="7" name="Backlog 42&#10;15 need SEV-2 review&#10;Owner gap"/>
          <p:cNvSpPr/>
          <p:nvPr/>
        </p:nvSpPr>
        <p:spPr>
          <a:xfrm>
            <a:off x="4498848" y="1188720"/>
            <a:ext cx="2816352" cy="859536"/>
          </a:xfrm>
          <a:prstGeom prst="roundRect">
            <a:avLst/>
          </a:prstGeom>
          <a:solidFill>
            <a:srgbClr val="EEF4FB"/>
          </a:solidFill>
          <a:ln w="19050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Backlog 42
15 need SEV-2 review
Owner gap</a:t>
            </a:r>
          </a:p>
        </p:txBody>
      </p:sp>
      <p:sp>
        <p:nvSpPr>
          <p:cNvPr id="8" name="Coverage 92%&#10;Weekend rota live&#10;Watch Friday"/>
          <p:cNvSpPr/>
          <p:nvPr/>
        </p:nvSpPr>
        <p:spPr>
          <a:xfrm>
            <a:off x="8375904" y="1188720"/>
            <a:ext cx="2816352" cy="859536"/>
          </a:xfrm>
          <a:prstGeom prst="roundRect">
            <a:avLst/>
          </a:prstGeom>
          <a:solidFill>
            <a:srgbClr val="E9F7F0"/>
          </a:solidFill>
          <a:ln w="19050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Coverage 92%
Weekend rota live
Watch Friday</a:t>
            </a:r>
          </a:p>
        </p:txBody>
      </p:sp>
      <p:sp>
        <p:nvSpPr>
          <p:cNvPr id="9" name="incident_trend_panel"/>
          <p:cNvSpPr/>
          <p:nvPr/>
        </p:nvSpPr>
        <p:spPr>
          <a:xfrm>
            <a:off x="658368" y="2286000"/>
            <a:ext cx="6903720" cy="2944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48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2194560" cy="25603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200" b="1">
                <a:solidFill>
                  <a:srgbClr val="1F4E79"/>
                </a:solidFill>
              </a:rPr>
              <a:t>INCIDENT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98064"/>
            <a:ext cx="2103120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Severity mix, last 7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1572768" cy="804672"/>
          </a:xfrm>
          <a:prstGeom prst="roundRect">
            <a:avLst/>
          </a:prstGeom>
          <a:solidFill>
            <a:srgbClr val="F7FAFD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50" b="0">
                <a:solidFill>
                  <a:srgbClr val="172033"/>
                </a:solidFill>
              </a:rPr>
              <a:t>P1 incidents: 3
P2 incidents: 11
P3 incidents: 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688336"/>
            <a:ext cx="1975104" cy="530352"/>
          </a:xfrm>
          <a:prstGeom prst="roundRect">
            <a:avLst/>
          </a:prstGeom>
          <a:solidFill>
            <a:srgbClr val="E7F1FB"/>
          </a:solidFill>
          <a:ln w="15875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194977"/>
                </a:solidFill>
              </a:rPr>
              <a:t>Trend down 18% WoW
Driver: owner cleanup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3200400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586778"/>
                </a:solidFill>
              </a:rPr>
              <a:t>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80944" y="3456432"/>
            <a:ext cx="9144" cy="1225296"/>
          </a:xfrm>
          <a:prstGeom prst="rect">
            <a:avLst/>
          </a:prstGeom>
          <a:solidFill>
            <a:srgbClr val="D5DEE8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6936" y="4736592"/>
            <a:ext cx="274320" cy="14630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648" y="3456432"/>
            <a:ext cx="9144" cy="1225296"/>
          </a:xfrm>
          <a:prstGeom prst="rect">
            <a:avLst/>
          </a:prstGeom>
          <a:solidFill>
            <a:srgbClr val="D5DEE8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4736592"/>
            <a:ext cx="274320" cy="14630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3456432"/>
            <a:ext cx="9144" cy="1225296"/>
          </a:xfrm>
          <a:prstGeom prst="rect">
            <a:avLst/>
          </a:prstGeom>
          <a:solidFill>
            <a:srgbClr val="D5DEE8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4736592"/>
            <a:ext cx="274320" cy="14630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5" y="3456432"/>
            <a:ext cx="9144" cy="1225296"/>
          </a:xfrm>
          <a:prstGeom prst="rect">
            <a:avLst/>
          </a:prstGeom>
          <a:solidFill>
            <a:srgbClr val="D5DEE8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7" y="4736592"/>
            <a:ext cx="274320" cy="14630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2304" y="3547872"/>
            <a:ext cx="31089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586778"/>
                </a:solidFill>
              </a:rPr>
              <a:t>P1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80944" y="3566160"/>
            <a:ext cx="320040" cy="201168"/>
          </a:xfrm>
          <a:prstGeom prst="rect">
            <a:avLst/>
          </a:prstGeom>
          <a:solidFill>
            <a:srgbClr val="77A6D2"/>
          </a:solidFill>
          <a:ln w="15875">
            <a:solidFill>
              <a:srgbClr val="77A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2424" y="3557016"/>
            <a:ext cx="384048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2304" y="3968496"/>
            <a:ext cx="31089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586778"/>
                </a:solidFill>
              </a:rPr>
              <a:t>P2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80944" y="3986784"/>
            <a:ext cx="1170432" cy="201168"/>
          </a:xfrm>
          <a:prstGeom prst="rect">
            <a:avLst/>
          </a:prstGeom>
          <a:solidFill>
            <a:srgbClr val="437DB7"/>
          </a:solidFill>
          <a:ln w="15875">
            <a:solidFill>
              <a:srgbClr val="437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2816" y="3977640"/>
            <a:ext cx="384048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172033"/>
                </a:solidFill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2304" y="4389120"/>
            <a:ext cx="31089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586778"/>
                </a:solidFill>
              </a:rPr>
              <a:t>P3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80944" y="4407408"/>
            <a:ext cx="2971800" cy="201168"/>
          </a:xfrm>
          <a:prstGeom prst="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4183" y="4398264"/>
            <a:ext cx="384048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172033"/>
                </a:solidFill>
              </a:rPr>
              <a:t>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010912"/>
            <a:ext cx="6144768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Visual target: expanded from seed into the annotated left-middle analysis region.</a:t>
            </a:r>
          </a:p>
        </p:txBody>
      </p:sp>
      <p:sp>
        <p:nvSpPr>
          <p:cNvPr id="33" name="turn1_layout_fixes"/>
          <p:cNvSpPr/>
          <p:nvPr/>
        </p:nvSpPr>
        <p:spPr>
          <a:xfrm>
            <a:off x="8101583" y="2304288"/>
            <a:ext cx="3273552" cy="1627632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6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0">
                <a:solidFill>
                  <a:srgbClr val="172033"/>
                </a:solidFill>
              </a:rPr>
              <a:t>Turn 1 layout fixes
Metric row aligned
Risk moved to lower-right
Non-target slides preserved</a:t>
            </a:r>
          </a:p>
        </p:txBody>
      </p:sp>
      <p:sp>
        <p:nvSpPr>
          <p:cNvPr id="34" name="sev2_queue_risk"/>
          <p:cNvSpPr/>
          <p:nvPr/>
        </p:nvSpPr>
        <p:spPr>
          <a:xfrm>
            <a:off x="8101583" y="4590288"/>
            <a:ext cx="3273552" cy="1371600"/>
          </a:xfrm>
          <a:prstGeom prst="roundRect">
            <a:avLst/>
          </a:prstGeom>
          <a:solidFill>
            <a:srgbClr val="FFEFEF"/>
          </a:solidFill>
          <a:ln w="15875">
            <a:solidFill>
              <a:srgbClr val="C1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0">
                <a:solidFill>
                  <a:srgbClr val="172033"/>
                </a:solidFill>
              </a:rPr>
              <a:t>SEV-2 queue risk
Escalation owner missing
Annotate hotfix owner by Friday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6144768"/>
            <a:ext cx="2066543" cy="3108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50" b="1">
                <a:solidFill>
                  <a:srgbClr val="586778"/>
                </a:solidFill>
              </a:rPr>
              <a:t>Protected slides unchanged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71216" y="6199632"/>
            <a:ext cx="420624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Generated gold reference for CUIF annotated-screenshot edit task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438912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Runbook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05840"/>
            <a:ext cx="5303520" cy="36576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Do not edit: runbook appendix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521208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Escalation ladder
1. Triage lead confirms ownership
2. SRE opens mitigation channel
3. Comms drafts customer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828800"/>
            <a:ext cx="4480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Weekend coverage window
Friday 18:00 to Monday 09:00
Owner rotation remains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502920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Benchmark Audit Trail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656" y="1572768"/>
            <a:ext cx="6949440" cy="14264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Do not edit: incident response benchmark invariant
Seed slide 2 is the only editable target.
Preserve source narrative and non-target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822191"/>
            <a:ext cx="6126480" cy="4572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800" b="0">
                <a:solidFill>
                  <a:srgbClr val="586778"/>
                </a:solidFill>
              </a:rPr>
              <a:t>CUIF check focus: targeted edit + preservation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