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A6CEE3"/>
            </a:solidFill>
          </c:spPr>
          <c:cat>
            <c:strRef>
              <c:f>Sheet1!$A$2:$A$5</c:f>
              <c:strCache>
                <c:ptCount val="4"/>
                <c:pt idx="0">
                  <c:v>Germany</c:v>
                </c:pt>
                <c:pt idx="1">
                  <c:v>India</c:v>
                </c:pt>
                <c:pt idx="2">
                  <c:v>United States</c:v>
                </c:pt>
                <c:pt idx="3">
                  <c:v>China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30.0</c:v>
                </c:pt>
                <c:pt idx="1">
                  <c:v>14.9</c:v>
                </c:pt>
                <c:pt idx="2">
                  <c:v>13.6</c:v>
                </c:pt>
                <c:pt idx="3">
                  <c:v>23.9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Germany</c:v>
                </c:pt>
                <c:pt idx="1">
                  <c:v>India</c:v>
                </c:pt>
                <c:pt idx="2">
                  <c:v>United States</c:v>
                </c:pt>
                <c:pt idx="3">
                  <c:v>China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39.8</c:v>
                </c:pt>
                <c:pt idx="1">
                  <c:v>19.1</c:v>
                </c:pt>
                <c:pt idx="2">
                  <c:v>20.3</c:v>
                </c:pt>
                <c:pt idx="3">
                  <c:v>28.4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0.0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1_title"/>
          <p:cNvSpPr txBox="1"/>
          <p:nvPr/>
        </p:nvSpPr>
        <p:spPr>
          <a:xfrm>
            <a:off x="585216" y="329184"/>
            <a:ext cx="813816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  <a:latin typeface="Aptos"/>
              </a:rPr>
              <a:t>Renewable Electricity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2015 vs 2021 selected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98572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Renewable share of electricity output (%)</a:t>
            </a:r>
          </a:p>
        </p:txBody>
      </p:sp>
      <p:graphicFrame>
        <p:nvGraphicFramePr>
          <p:cNvPr id="5" name="renewable_share_clustered_chart"/>
          <p:cNvGraphicFramePr>
            <a:graphicFrameLocks noGrp="1"/>
          </p:cNvGraphicFramePr>
          <p:nvPr/>
        </p:nvGraphicFramePr>
        <p:xfrm>
          <a:off x="713232" y="1444752"/>
          <a:ext cx="9857232" cy="39867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5596128"/>
            <a:ext cx="985723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0">
                <a:solidFill>
                  <a:srgbClr val="7E8994"/>
                </a:solidFill>
                <a:latin typeface="Aptos"/>
              </a:rPr>
              <a:t>Insight pending after chart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Workbook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60120"/>
            <a:ext cx="10515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Source data: renewable electricity output 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508760"/>
            <a:ext cx="10744200" cy="416966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Country 2015 2021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67712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Germany 30.0 39.8 +9.8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India 14.9 19.1 +4.2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84448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United States 13.6 20.3 +6.6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42816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China 23.9 28.4 +4.6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8928"/>
            <a:ext cx="98755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0">
                <a:solidFill>
                  <a:srgbClr val="5D7287"/>
                </a:solidFill>
                <a:latin typeface="Aptos"/>
              </a:rPr>
              <a:t>Rows validated from source_data.xlsx selected_countries sheet; chart must use the same rounded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Interpretation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207008"/>
            <a:ext cx="10698480" cy="44348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9966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Do not overstate causality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066543"/>
            <a:ext cx="99212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0">
                <a:solidFill>
                  <a:srgbClr val="172033"/>
                </a:solidFill>
                <a:latin typeface="Aptos"/>
              </a:rPr>
              <a:t>The metric is renewable electricity share of total electricity output. It does not measure economy-wide energy use or emissions intensity.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273552"/>
            <a:ext cx="99669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Use a peer-comparison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85615"/>
            <a:ext cx="992124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0">
                <a:solidFill>
                  <a:srgbClr val="172033"/>
                </a:solidFill>
                <a:latin typeface="Aptos"/>
              </a:rPr>
              <a:t>Turn 2 should add one concise insight under the slide 1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02920"/>
            <a:ext cx="10972800" cy="58064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99669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9875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B74C46"/>
                </a:solidFill>
                <a:latin typeface="Aptos"/>
              </a:rPr>
              <a:t>Do not edit: renewable briefing invariant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87552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800" b="0">
                <a:solidFill>
                  <a:srgbClr val="5D7287"/>
                </a:solidFill>
                <a:latin typeface="Aptos"/>
              </a:rPr>
              <a:t>This slide anchors collateral-damage checks for the CUIF PoC. It should survive every turn exactly.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