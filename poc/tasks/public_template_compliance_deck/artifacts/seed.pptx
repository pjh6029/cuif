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57200"/>
            <a:ext cx="6583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800" b="1">
                <a:solidFill>
                  <a:srgbClr val="112A4A"/>
                </a:solidFill>
                <a:latin typeface="Aptos"/>
              </a:rPr>
              <a:t>Metro Civic Grants rough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68580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B6B80"/>
                </a:solidFill>
                <a:latin typeface="Aptos"/>
              </a:rPr>
              <a:t>Need public template applied using style_reference.svg and layout_grid.svg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64208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600" b="0">
                <a:solidFill>
                  <a:srgbClr val="112A4A"/>
                </a:solidFill>
                <a:latin typeface="Aptos"/>
              </a:rPr>
              <a:t>Program health: On track; 14 active grants; 2 require technical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600" b="0">
                <a:solidFill>
                  <a:srgbClr val="112A4A"/>
                </a:solidFill>
                <a:latin typeface="Aptos"/>
              </a:rPr>
              <a:t>Funding status: $42.8M obligated; 91% reporting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90672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600" b="0">
                <a:solidFill>
                  <a:srgbClr val="112A4A"/>
                </a:solidFill>
                <a:latin typeface="Aptos"/>
              </a:rPr>
              <a:t>Timeline: Council packet due May 24; Award letters by June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828800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600" b="0">
                <a:solidFill>
                  <a:srgbClr val="112A4A"/>
                </a:solidFill>
                <a:latin typeface="Aptos"/>
              </a:rPr>
              <a:t>Risk watch: procurement timing is the main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2724912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600" b="0">
                <a:solidFill>
                  <a:srgbClr val="112A4A"/>
                </a:solidFill>
                <a:latin typeface="Aptos"/>
              </a:rPr>
              <a:t>Council checkpoint: Decision memo; Finance sign-off; District 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5705856"/>
            <a:ext cx="740664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5B6B80"/>
                </a:solidFill>
                <a:latin typeface="Aptos"/>
              </a:rPr>
              <a:t>Protected legal notice: FY26 allocations remain preliminary until council adoption.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57200"/>
            <a:ext cx="6583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800" b="1">
                <a:solidFill>
                  <a:srgbClr val="112A4A"/>
                </a:solidFill>
                <a:latin typeface="Aptos"/>
              </a:rPr>
              <a:t>Compliance monitoring rough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81328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0">
                <a:solidFill>
                  <a:srgbClr val="112A4A"/>
                </a:solidFill>
                <a:latin typeface="Aptos"/>
              </a:rPr>
              <a:t>Reporting Green M. Chen publish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1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0">
                <a:solidFill>
                  <a:srgbClr val="112A4A"/>
                </a:solidFill>
                <a:latin typeface="Aptos"/>
              </a:rPr>
              <a:t>Procurement Amber R. Alvarez review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688336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0">
                <a:solidFill>
                  <a:srgbClr val="112A4A"/>
                </a:solidFill>
                <a:latin typeface="Aptos"/>
              </a:rPr>
              <a:t>Equity review Green T. Malik archive scorecards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5705856"/>
            <a:ext cx="53035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5B6B80"/>
                </a:solidFill>
                <a:latin typeface="Aptos"/>
              </a:rPr>
              <a:t>Do not edit: Metro Civic audit trail invariant.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