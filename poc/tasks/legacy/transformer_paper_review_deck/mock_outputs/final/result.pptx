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solidFill>
              <a:srgbClr val="FA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097280" cy="54406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_title"/>
          <p:cNvSpPr txBox="1"/>
          <p:nvPr/>
        </p:nvSpPr>
        <p:spPr>
          <a:xfrm>
            <a:off x="1993392" y="987552"/>
            <a:ext cx="7680960" cy="58521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1F4E79"/>
                </a:solidFill>
              </a:rPr>
              <a:t>Attention Is All You Need</a:t>
            </a:r>
          </a:p>
        </p:txBody>
      </p:sp>
      <p:sp>
        <p:nvSpPr>
          <p:cNvPr id="5" name="deck_subtitle"/>
          <p:cNvSpPr txBox="1"/>
          <p:nvPr/>
        </p:nvSpPr>
        <p:spPr>
          <a:xfrm>
            <a:off x="2029968" y="1700784"/>
            <a:ext cx="713232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262A38"/>
                </a:solidFill>
              </a:rPr>
              <a:t>Reading group review: Transformer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968" y="2157984"/>
            <a:ext cx="6766560" cy="23774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56667A"/>
                </a:solidFill>
              </a:rPr>
              <a:t>Vaswani et al. | arXiv:1706.03762 | NeurIPS 2017</a:t>
            </a:r>
          </a:p>
        </p:txBody>
      </p:sp>
      <p:sp>
        <p:nvSpPr>
          <p:cNvPr id="7" name="main_claim_box"/>
          <p:cNvSpPr/>
          <p:nvPr/>
        </p:nvSpPr>
        <p:spPr>
          <a:xfrm>
            <a:off x="2029968" y="2788920"/>
            <a:ext cx="489204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Main claim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The Transformer replaces recurrence with attention for sequence transduction.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Parallelizable architecture plus attention layers delivered strong MT results.</a:t>
            </a:r>
          </a:p>
        </p:txBody>
      </p:sp>
      <p:sp>
        <p:nvSpPr>
          <p:cNvPr id="8" name="review_lens_box"/>
          <p:cNvSpPr/>
          <p:nvPr/>
        </p:nvSpPr>
        <p:spPr>
          <a:xfrm>
            <a:off x="7360920" y="2788920"/>
            <a:ext cx="3337560" cy="1417320"/>
          </a:xfrm>
          <a:prstGeom prst="roundRect">
            <a:avLst/>
          </a:prstGeom>
          <a:solidFill>
            <a:srgbClr val="E5F7F0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Review lens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Architecture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Attention formula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Discussion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hitecture_title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1F4E79"/>
                </a:solidFill>
              </a:rPr>
              <a:t>Transformer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FIGURE 1</a:t>
            </a:r>
          </a:p>
        </p:txBody>
      </p:sp>
      <p:sp>
        <p:nvSpPr>
          <p:cNvPr id="5" name="architecture_stage"/>
          <p:cNvSpPr/>
          <p:nvPr/>
        </p:nvSpPr>
        <p:spPr>
          <a:xfrm>
            <a:off x="566928" y="932688"/>
            <a:ext cx="5349240" cy="53309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transformer_architecture_figure" descr="figure1_transform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078992"/>
            <a:ext cx="3263518" cy="4983480"/>
          </a:xfrm>
          <a:prstGeom prst="rect">
            <a:avLst/>
          </a:prstGeom>
        </p:spPr>
      </p:pic>
      <p:sp>
        <p:nvSpPr>
          <p:cNvPr id="7" name="architecture_caption"/>
          <p:cNvSpPr txBox="1"/>
          <p:nvPr/>
        </p:nvSpPr>
        <p:spPr>
          <a:xfrm>
            <a:off x="749808" y="5989320"/>
            <a:ext cx="4983480" cy="23774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56667A"/>
                </a:solidFill>
              </a:rPr>
              <a:t>Source figure: Transformer architecture (Figure 1)</a:t>
            </a:r>
          </a:p>
        </p:txBody>
      </p:sp>
      <p:sp>
        <p:nvSpPr>
          <p:cNvPr id="8" name="encoder_stack_callout"/>
          <p:cNvSpPr/>
          <p:nvPr/>
        </p:nvSpPr>
        <p:spPr>
          <a:xfrm>
            <a:off x="6419088" y="1188720"/>
            <a:ext cx="4572000" cy="1143000"/>
          </a:xfrm>
          <a:prstGeom prst="roundRect">
            <a:avLst/>
          </a:prstGeom>
          <a:solidFill>
            <a:srgbClr val="EDF4F9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Encoder stack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Self-attention + feed-forward layers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Residual path and normalization keep depth stable.</a:t>
            </a:r>
          </a:p>
        </p:txBody>
      </p:sp>
      <p:sp>
        <p:nvSpPr>
          <p:cNvPr id="9" name="decoder_stack_callout"/>
          <p:cNvSpPr/>
          <p:nvPr/>
        </p:nvSpPr>
        <p:spPr>
          <a:xfrm>
            <a:off x="6419088" y="2606040"/>
            <a:ext cx="457200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Decoder stack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Masked attention prevents future-token leakage.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Cross-attention reads encoder states.</a:t>
            </a:r>
          </a:p>
        </p:txBody>
      </p:sp>
      <p:sp>
        <p:nvSpPr>
          <p:cNvPr id="10" name="multi_head_bridge_callout"/>
          <p:cNvSpPr/>
          <p:nvPr/>
        </p:nvSpPr>
        <p:spPr>
          <a:xfrm>
            <a:off x="6419088" y="4023360"/>
            <a:ext cx="4572000" cy="1143000"/>
          </a:xfrm>
          <a:prstGeom prst="roundRect">
            <a:avLst/>
          </a:prstGeom>
          <a:solidFill>
            <a:srgbClr val="E5F7F0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Multi-head attention bridge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The same attention primitive connects representation, decoding, and alignment.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5596128"/>
            <a:ext cx="329184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Turn 2 layout follows annotated screenshot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rmula_slide_title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</a:rPr>
              <a:t>Scaled Dot-Product Attention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FORMULA + FIGURE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5806440" cy="3547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attention_mechanism_figure" descr="figure2_attention_mechanis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17320"/>
            <a:ext cx="5257800" cy="2802273"/>
          </a:xfrm>
          <a:prstGeom prst="rect">
            <a:avLst/>
          </a:prstGeom>
        </p:spPr>
      </p:pic>
      <p:sp>
        <p:nvSpPr>
          <p:cNvPr id="7" name="formula_context"/>
          <p:cNvSpPr/>
          <p:nvPr/>
        </p:nvSpPr>
        <p:spPr>
          <a:xfrm>
            <a:off x="6629400" y="1298448"/>
            <a:ext cx="4343400" cy="1097280"/>
          </a:xfrm>
          <a:prstGeom prst="roundRect">
            <a:avLst/>
          </a:prstGeom>
          <a:solidFill>
            <a:srgbClr val="EDF4F9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Scaled dot-product 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Inputs are queries Q, keys K, and values V.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Scaling by sqrt(d_k) stabilizes the softmax.</a:t>
            </a:r>
          </a:p>
        </p:txBody>
      </p:sp>
      <p:sp>
        <p:nvSpPr>
          <p:cNvPr id="8" name="attention_formula_text"/>
          <p:cNvSpPr txBox="1"/>
          <p:nvPr/>
        </p:nvSpPr>
        <p:spPr>
          <a:xfrm>
            <a:off x="6565392" y="2724912"/>
            <a:ext cx="461772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72033"/>
                </a:solidFill>
              </a:rPr>
              <a:t>Attention(Q, K, V) = softmax(QK^T / sqrt(d_k))V</a:t>
            </a:r>
          </a:p>
        </p:txBody>
      </p:sp>
      <p:pic>
        <p:nvPicPr>
          <p:cNvPr id="9" name="attention_formula_image" descr="attention_formula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291840"/>
            <a:ext cx="4251960" cy="6963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01968" y="3968496"/>
            <a:ext cx="4069080" cy="21945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56667A"/>
                </a:solidFill>
              </a:rPr>
              <a:t>Formula from paper PDF, Section 3.2.1</a:t>
            </a:r>
          </a:p>
        </p:txBody>
      </p:sp>
      <p:sp>
        <p:nvSpPr>
          <p:cNvPr id="11" name="why_it_matters"/>
          <p:cNvSpPr txBox="1"/>
          <p:nvPr/>
        </p:nvSpPr>
        <p:spPr>
          <a:xfrm>
            <a:off x="658368" y="5285232"/>
            <a:ext cx="8046720" cy="29260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62A38"/>
                </a:solidFill>
              </a:rPr>
              <a:t>Why it matters: attention replaces recurrence for sequence transduction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verdict_title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1F4E79"/>
                </a:solidFill>
              </a:rPr>
              <a:t>Paper Verdict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38404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F4E79"/>
                </a:solidFill>
              </a:rPr>
              <a:t>Paper verdict</a:t>
            </a:r>
          </a:p>
        </p:txBody>
      </p:sp>
      <p:sp>
        <p:nvSpPr>
          <p:cNvPr id="6" name="strength_card"/>
          <p:cNvSpPr/>
          <p:nvPr/>
        </p:nvSpPr>
        <p:spPr>
          <a:xfrm>
            <a:off x="713232" y="1700784"/>
            <a:ext cx="507492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Strength: parallelizable sequence modeling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The paper made attention a practical replacement for recurrence.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It offered a cleaner path to scale training across positions.</a:t>
            </a:r>
          </a:p>
        </p:txBody>
      </p:sp>
      <p:sp>
        <p:nvSpPr>
          <p:cNvPr id="7" name="question_card"/>
          <p:cNvSpPr/>
          <p:nvPr/>
        </p:nvSpPr>
        <p:spPr>
          <a:xfrm>
            <a:off x="6355080" y="1700784"/>
            <a:ext cx="4754880" cy="1417320"/>
          </a:xfrm>
          <a:prstGeom prst="roundRect">
            <a:avLst/>
          </a:prstGeom>
          <a:solidFill>
            <a:srgbClr val="EDF4F9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Question: what breaks when context grows?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Quadratic attention cost becomes the pressure point.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Modern variants still negotiate this original design tradeoff.</a:t>
            </a:r>
          </a:p>
        </p:txBody>
      </p:sp>
      <p:sp>
        <p:nvSpPr>
          <p:cNvPr id="8" name="reading_group_card"/>
          <p:cNvSpPr/>
          <p:nvPr/>
        </p:nvSpPr>
        <p:spPr>
          <a:xfrm>
            <a:off x="713232" y="3858768"/>
            <a:ext cx="5074920" cy="1508760"/>
          </a:xfrm>
          <a:prstGeom prst="roundRect">
            <a:avLst/>
          </a:prstGeom>
          <a:solidFill>
            <a:srgbClr val="E5F7F0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For the reading group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Explain Figure 1 first.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Use the formula to connect the architecture to computation.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End with the scaling question.</a:t>
            </a:r>
          </a:p>
        </p:txBody>
      </p:sp>
      <p:sp>
        <p:nvSpPr>
          <p:cNvPr id="9" name="lab_verdict_footer"/>
          <p:cNvSpPr/>
          <p:nvPr/>
        </p:nvSpPr>
        <p:spPr>
          <a:xfrm>
            <a:off x="6355080" y="4297680"/>
            <a:ext cx="4617720" cy="402336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Lab verdict: foundational, but evaluation now needs multimodal office tasks.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</a:rPr>
              <a:t>Lab Logistics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PROTECTED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685800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C63D37"/>
                </a:solidFill>
              </a:rPr>
              <a:t>Do not edit: Transformer seminar logistics invariant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93392"/>
            <a:ext cx="5303520" cy="1737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Seminar metadata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Reading group: SNUPI Office Agents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Room: 302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Time box: 25 min review + 20 min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993392"/>
            <a:ext cx="4572000" cy="1737360"/>
          </a:xfrm>
          <a:prstGeom prst="roundRect">
            <a:avLst/>
          </a:prstGeom>
          <a:solidFill>
            <a:srgbClr val="EDF4F9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Benchmark invariant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This slide is used to detect collateral damage.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Agent should preserve every text box on this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Protected context slide | Do not edit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