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20624"/>
            <a:ext cx="7132320" cy="50292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Nimbus Reliability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987552"/>
            <a:ext cx="6400800" cy="32918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Executive context for April service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39496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Scope: support, SRE, and comms readiness
Primary KPI: restore severity-2 ownership discipline
Do not edit: Nimbus context invariant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01952"/>
            <a:ext cx="4480560" cy="530352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1">
                <a:solidFill>
                  <a:srgbClr val="172033"/>
                </a:solidFill>
              </a:rPr>
              <a:t>Protected slide for collateral-damage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4848" y="2633472"/>
            <a:ext cx="3749039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600" b="0">
                <a:solidFill>
                  <a:srgbClr val="586778"/>
                </a:solidFill>
              </a:rPr>
              <a:t>Revision target is slide 2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2_title"/>
          <p:cNvSpPr txBox="1"/>
          <p:nvPr/>
        </p:nvSpPr>
        <p:spPr>
          <a:xfrm>
            <a:off x="530352" y="310896"/>
            <a:ext cx="658368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Reliability Operations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384048"/>
            <a:ext cx="2084831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ECB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50" b="1">
                <a:solidFill>
                  <a:srgbClr val="1F4E79"/>
                </a:solidFill>
              </a:rPr>
              <a:t>APRIL SERVICE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" y="841248"/>
            <a:ext cx="740664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300" b="0">
                <a:solidFill>
                  <a:srgbClr val="586778"/>
                </a:solidFill>
              </a:rPr>
              <a:t>Edited slide: annotated screenshot applied to the target dashboard.</a:t>
            </a:r>
          </a:p>
        </p:txBody>
      </p:sp>
      <p:sp>
        <p:nvSpPr>
          <p:cNvPr id="6" name="MTTA 8 min&#10;Target &lt;=10 min&#10;+2 min buffer"/>
          <p:cNvSpPr/>
          <p:nvPr/>
        </p:nvSpPr>
        <p:spPr>
          <a:xfrm>
            <a:off x="621792" y="1188720"/>
            <a:ext cx="2816352" cy="859536"/>
          </a:xfrm>
          <a:prstGeom prst="roundRect">
            <a:avLst/>
          </a:prstGeom>
          <a:solidFill>
            <a:srgbClr val="E7F1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MTTA 8 min
Target &lt;=10 min
+2 min buffer</a:t>
            </a:r>
          </a:p>
        </p:txBody>
      </p:sp>
      <p:sp>
        <p:nvSpPr>
          <p:cNvPr id="7" name="Backlog 42&#10;15 need SEV-2 review&#10;Owner gap"/>
          <p:cNvSpPr/>
          <p:nvPr/>
        </p:nvSpPr>
        <p:spPr>
          <a:xfrm>
            <a:off x="4498848" y="1188720"/>
            <a:ext cx="2816352" cy="859536"/>
          </a:xfrm>
          <a:prstGeom prst="roundRect">
            <a:avLst/>
          </a:prstGeom>
          <a:solidFill>
            <a:srgbClr val="EEF4FB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Backlog 42
15 need SEV-2 review
Owner gap</a:t>
            </a:r>
          </a:p>
        </p:txBody>
      </p:sp>
      <p:sp>
        <p:nvSpPr>
          <p:cNvPr id="8" name="Coverage 92%&#10;Weekend rota live&#10;Watch Friday"/>
          <p:cNvSpPr/>
          <p:nvPr/>
        </p:nvSpPr>
        <p:spPr>
          <a:xfrm>
            <a:off x="8375904" y="1188720"/>
            <a:ext cx="2816352" cy="859536"/>
          </a:xfrm>
          <a:prstGeom prst="roundRect">
            <a:avLst/>
          </a:prstGeom>
          <a:solidFill>
            <a:srgbClr val="E9F7F0"/>
          </a:solidFill>
          <a:ln w="19050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Coverage 92%
Weekend rota live
Watch Friday</a:t>
            </a:r>
          </a:p>
        </p:txBody>
      </p:sp>
      <p:sp>
        <p:nvSpPr>
          <p:cNvPr id="9" name="incident_trend_panel"/>
          <p:cNvSpPr/>
          <p:nvPr/>
        </p:nvSpPr>
        <p:spPr>
          <a:xfrm>
            <a:off x="658368" y="2286000"/>
            <a:ext cx="6903720" cy="2944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48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194560" cy="256032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200" b="1">
                <a:solidFill>
                  <a:srgbClr val="1F4E79"/>
                </a:solidFill>
              </a:rPr>
              <a:t>INCIDENT TREND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798064"/>
            <a:ext cx="210312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Severity mix, last 7 days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200400"/>
            <a:ext cx="1572768" cy="804672"/>
          </a:xfrm>
          <a:prstGeom prst="roundRect">
            <a:avLst/>
          </a:prstGeom>
          <a:solidFill>
            <a:srgbClr val="F7FAFD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50" b="0">
                <a:solidFill>
                  <a:srgbClr val="172033"/>
                </a:solidFill>
              </a:rPr>
              <a:t>P1 incidents: 3
P2 incidents: 11
P3 incidents: 28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688336"/>
            <a:ext cx="1975104" cy="530352"/>
          </a:xfrm>
          <a:prstGeom prst="roundRect">
            <a:avLst/>
          </a:prstGeom>
          <a:solidFill>
            <a:srgbClr val="E7F1FB"/>
          </a:solidFill>
          <a:ln w="15875">
            <a:solidFill>
              <a:srgbClr val="AEC1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100" b="1">
                <a:solidFill>
                  <a:srgbClr val="194977"/>
                </a:solidFill>
              </a:rPr>
              <a:t>Trend down 18% WoW
Driver: owner cleanup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3200400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Count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80944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39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02352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5" y="3456432"/>
            <a:ext cx="9144" cy="1225296"/>
          </a:xfrm>
          <a:prstGeom prst="rect">
            <a:avLst/>
          </a:prstGeom>
          <a:solidFill>
            <a:srgbClr val="D5DEE8"/>
          </a:solidFill>
          <a:ln w="15875">
            <a:solidFill>
              <a:srgbClr val="D5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7" y="4736592"/>
            <a:ext cx="274320" cy="146304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304" y="3547872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80944" y="3566160"/>
            <a:ext cx="320040" cy="201168"/>
          </a:xfrm>
          <a:prstGeom prst="rect">
            <a:avLst/>
          </a:prstGeom>
          <a:solidFill>
            <a:srgbClr val="77A6D2"/>
          </a:solidFill>
          <a:ln w="15875">
            <a:solidFill>
              <a:srgbClr val="77A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3557016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2304" y="3968496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0944" y="3986784"/>
            <a:ext cx="1170432" cy="201168"/>
          </a:xfrm>
          <a:prstGeom prst="rect">
            <a:avLst/>
          </a:prstGeom>
          <a:solidFill>
            <a:srgbClr val="437DB7"/>
          </a:solidFill>
          <a:ln w="15875">
            <a:solidFill>
              <a:srgbClr val="437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2816" y="3977640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32304" y="4389120"/>
            <a:ext cx="310896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586778"/>
                </a:solidFill>
              </a:rPr>
              <a:t>P3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80944" y="4407408"/>
            <a:ext cx="2971800" cy="201168"/>
          </a:xfrm>
          <a:prstGeom prst="rect">
            <a:avLst/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44183" y="4398264"/>
            <a:ext cx="384048" cy="182880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1">
                <a:solidFill>
                  <a:srgbClr val="172033"/>
                </a:solidFill>
              </a:rPr>
              <a:t>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010912"/>
            <a:ext cx="6144768" cy="201168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Visual target: expanded from seed into the annotated left-middle analysis region.</a:t>
            </a:r>
          </a:p>
        </p:txBody>
      </p:sp>
      <p:sp>
        <p:nvSpPr>
          <p:cNvPr id="33" name="queue_risk_caption"/>
          <p:cNvSpPr txBox="1"/>
          <p:nvPr/>
        </p:nvSpPr>
        <p:spPr>
          <a:xfrm>
            <a:off x="749808" y="5358384"/>
            <a:ext cx="6675120" cy="38404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Caption: queue risk is concentrated in SEV-2 ownership gaps.</a:t>
            </a:r>
          </a:p>
        </p:txBody>
      </p:sp>
      <p:sp>
        <p:nvSpPr>
          <p:cNvPr id="34" name="action_owners"/>
          <p:cNvSpPr/>
          <p:nvPr/>
        </p:nvSpPr>
        <p:spPr>
          <a:xfrm>
            <a:off x="8101583" y="2304288"/>
            <a:ext cx="3273552" cy="1792224"/>
          </a:xfrm>
          <a:prstGeom prst="roundRect">
            <a:avLst/>
          </a:prstGeom>
          <a:solidFill>
            <a:srgbClr val="E8F7F0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0">
                <a:solidFill>
                  <a:srgbClr val="172033"/>
                </a:solidFill>
              </a:rPr>
              <a:t>Action owners
SRE: Priya
Support: Marcus
Comms: Lina
Next checkpoint: Friday 16:00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84464" y="3822191"/>
            <a:ext cx="1993392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50" b="1">
                <a:solidFill>
                  <a:srgbClr val="217D67"/>
                </a:solidFill>
              </a:rPr>
              <a:t>EXEC HANDOFF READY</a:t>
            </a:r>
          </a:p>
        </p:txBody>
      </p:sp>
      <p:sp>
        <p:nvSpPr>
          <p:cNvPr id="36" name="sev2_queue_risk"/>
          <p:cNvSpPr/>
          <p:nvPr/>
        </p:nvSpPr>
        <p:spPr>
          <a:xfrm>
            <a:off x="8101583" y="4590288"/>
            <a:ext cx="3273552" cy="1371600"/>
          </a:xfrm>
          <a:prstGeom prst="roundRect">
            <a:avLst/>
          </a:prstGeom>
          <a:solidFill>
            <a:srgbClr val="FFEFEF"/>
          </a:solidFill>
          <a:ln w="15875">
            <a:solidFill>
              <a:srgbClr val="C13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500" b="0">
                <a:solidFill>
                  <a:srgbClr val="172033"/>
                </a:solidFill>
              </a:rPr>
              <a:t>SEV-2 queue risk
Escalation owner missing
Annotate hotfix owner by Friday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6144768"/>
            <a:ext cx="2066543" cy="31089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/>
          <a:lstStyle/>
          <a:p>
            <a:pPr algn="ctr"/>
            <a:r>
              <a:rPr sz="1150" b="1">
                <a:solidFill>
                  <a:srgbClr val="586778"/>
                </a:solidFill>
              </a:rPr>
              <a:t>Protected slides unchanged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1216" y="6199632"/>
            <a:ext cx="4206240" cy="164592"/>
          </a:xfrm>
          <a:prstGeom prst="rect">
            <a:avLst/>
          </a:prstGeom>
          <a:noFill/>
        </p:spPr>
        <p:txBody>
          <a:bodyPr wrap="none" lIns="27432" rIns="27432" tIns="27432" bIns="27432">
            <a:spAutoFit/>
          </a:bodyPr>
          <a:lstStyle/>
          <a:p>
            <a:r>
              <a:rPr sz="1050" b="0">
                <a:solidFill>
                  <a:srgbClr val="586778"/>
                </a:solidFill>
              </a:rPr>
              <a:t>Generated gold reference for CUIF annotated-screenshot edit task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43891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Runbook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05840"/>
            <a:ext cx="5303520" cy="36576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500" b="0">
                <a:solidFill>
                  <a:srgbClr val="586778"/>
                </a:solidFill>
              </a:rPr>
              <a:t>Do not edit: runbook appendix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28800"/>
            <a:ext cx="5212080" cy="2011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Escalation ladder
1. Triage lead confirms ownership
2. SRE opens mitigation channel
3. Comms drafts customer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46520" y="1828800"/>
            <a:ext cx="448056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Weekend coverage window
Friday 18:00 to Monday 09:00
Owner rotation remains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502920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Benchmark Audit Trail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6656" y="1572768"/>
            <a:ext cx="6949440" cy="14264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800" b="0">
                <a:solidFill>
                  <a:srgbClr val="172033"/>
                </a:solidFill>
              </a:rPr>
              <a:t>Do not edit: incident response benchmark invariant
Seed slide 2 is the only editable target.
Preserve source narrative and non-target slides.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3822191"/>
            <a:ext cx="6126480" cy="457200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r>
              <a:rPr sz="1800" b="0">
                <a:solidFill>
                  <a:srgbClr val="586778"/>
                </a:solidFill>
              </a:rPr>
              <a:t>CUIF check focus: targeted edit + preservation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