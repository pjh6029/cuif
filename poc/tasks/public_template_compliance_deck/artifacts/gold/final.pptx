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mplate_header_band"/>
          <p:cNvSpPr/>
          <p:nvPr/>
        </p:nvSpPr>
        <p:spPr>
          <a:xfrm>
            <a:off x="0" y="0"/>
            <a:ext cx="12191999" cy="585216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tro_civic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91440"/>
            <a:ext cx="402336" cy="402336"/>
          </a:xfrm>
          <a:prstGeom prst="rect">
            <a:avLst/>
          </a:prstGeom>
        </p:spPr>
      </p:pic>
      <p:sp>
        <p:nvSpPr>
          <p:cNvPr id="4" name="template_title"/>
          <p:cNvSpPr txBox="1"/>
          <p:nvPr/>
        </p:nvSpPr>
        <p:spPr>
          <a:xfrm>
            <a:off x="859536" y="128016"/>
            <a:ext cx="68580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400" b="1">
                <a:solidFill>
                  <a:srgbClr val="F5C542"/>
                </a:solidFill>
                <a:latin typeface="Aptos"/>
              </a:rPr>
              <a:t>Metro Civic Grants: FY26 Oversight</a:t>
            </a:r>
          </a:p>
        </p:txBody>
      </p:sp>
      <p:sp>
        <p:nvSpPr>
          <p:cNvPr id="5" name="template_header_label"/>
          <p:cNvSpPr txBox="1"/>
          <p:nvPr/>
        </p:nvSpPr>
        <p:spPr>
          <a:xfrm>
            <a:off x="8275320" y="164592"/>
            <a:ext cx="3291840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METRO CIVIC GRANTS OFFICE</a:t>
            </a:r>
          </a:p>
        </p:txBody>
      </p:sp>
      <p:sp>
        <p:nvSpPr>
          <p:cNvPr id="6" name="template_footer_band"/>
          <p:cNvSpPr/>
          <p:nvPr/>
        </p:nvSpPr>
        <p:spPr>
          <a:xfrm>
            <a:off x="0" y="6473952"/>
            <a:ext cx="12191999" cy="384048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mplate_footer_text"/>
          <p:cNvSpPr txBox="1"/>
          <p:nvPr/>
        </p:nvSpPr>
        <p:spPr>
          <a:xfrm>
            <a:off x="402336" y="6547104"/>
            <a:ext cx="676656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Aptos"/>
              </a:rPr>
              <a:t>PUBLIC TEMPLATE • Metro Civic Grants Office • Confidential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49056" y="6547104"/>
            <a:ext cx="310896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850" b="0">
                <a:solidFill>
                  <a:srgbClr val="FFFFFF"/>
                </a:solidFill>
                <a:latin typeface="Aptos"/>
              </a:rPr>
              <a:t>Template margin: 0.42 in minimum</a:t>
            </a:r>
          </a:p>
        </p:txBody>
      </p:sp>
      <p:sp>
        <p:nvSpPr>
          <p:cNvPr id="9" name="section_band"/>
          <p:cNvSpPr/>
          <p:nvPr/>
        </p:nvSpPr>
        <p:spPr>
          <a:xfrm>
            <a:off x="438912" y="804672"/>
            <a:ext cx="11292840" cy="384048"/>
          </a:xfrm>
          <a:prstGeom prst="rect">
            <a:avLst/>
          </a:prstGeom>
          <a:solidFill>
            <a:srgbClr val="006F80"/>
          </a:solidFill>
          <a:ln w="12700">
            <a:solidFill>
              <a:srgbClr val="006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gram_status_briefing"/>
          <p:cNvSpPr txBox="1"/>
          <p:nvPr/>
        </p:nvSpPr>
        <p:spPr>
          <a:xfrm>
            <a:off x="585216" y="896112"/>
            <a:ext cx="5577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ptos"/>
              </a:rPr>
              <a:t>PROGRAM STATUS BRIEFING</a:t>
            </a:r>
          </a:p>
        </p:txBody>
      </p:sp>
      <p:sp>
        <p:nvSpPr>
          <p:cNvPr id="11" name="card_program_health"/>
          <p:cNvSpPr/>
          <p:nvPr/>
        </p:nvSpPr>
        <p:spPr>
          <a:xfrm>
            <a:off x="621792" y="1426464"/>
            <a:ext cx="315468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_heading_program_health"/>
          <p:cNvSpPr txBox="1"/>
          <p:nvPr/>
        </p:nvSpPr>
        <p:spPr>
          <a:xfrm>
            <a:off x="804672" y="1609344"/>
            <a:ext cx="2651760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550" b="1">
                <a:solidFill>
                  <a:srgbClr val="1F4E79"/>
                </a:solidFill>
                <a:latin typeface="Aptos"/>
              </a:rPr>
              <a:t>Program 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938528"/>
            <a:ext cx="2697480" cy="49377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150" b="0">
                <a:solidFill>
                  <a:srgbClr val="112A4A"/>
                </a:solidFill>
                <a:latin typeface="Aptos"/>
              </a:rPr>
              <a:t>On track: 14 active grants
2 require technical assistance</a:t>
            </a:r>
          </a:p>
        </p:txBody>
      </p:sp>
      <p:sp>
        <p:nvSpPr>
          <p:cNvPr id="14" name="card_funding_status"/>
          <p:cNvSpPr/>
          <p:nvPr/>
        </p:nvSpPr>
        <p:spPr>
          <a:xfrm>
            <a:off x="4517136" y="1426464"/>
            <a:ext cx="3154680" cy="1225296"/>
          </a:xfrm>
          <a:prstGeom prst="roundRect">
            <a:avLst/>
          </a:prstGeom>
          <a:solidFill>
            <a:srgbClr val="EAF3F9"/>
          </a:solidFill>
          <a:ln w="12700">
            <a:solidFill>
              <a:srgbClr val="B9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_heading_funding_status"/>
          <p:cNvSpPr txBox="1"/>
          <p:nvPr/>
        </p:nvSpPr>
        <p:spPr>
          <a:xfrm>
            <a:off x="4700016" y="1609344"/>
            <a:ext cx="2651760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550" b="1">
                <a:solidFill>
                  <a:srgbClr val="1F4E79"/>
                </a:solidFill>
                <a:latin typeface="Aptos"/>
              </a:rPr>
              <a:t>Funding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1938528"/>
            <a:ext cx="2697480" cy="49377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150" b="0">
                <a:solidFill>
                  <a:srgbClr val="112A4A"/>
                </a:solidFill>
                <a:latin typeface="Aptos"/>
              </a:rPr>
              <a:t>$42.8M obligated
91% reporting complete</a:t>
            </a:r>
          </a:p>
        </p:txBody>
      </p:sp>
      <p:sp>
        <p:nvSpPr>
          <p:cNvPr id="17" name="card_timeline"/>
          <p:cNvSpPr/>
          <p:nvPr/>
        </p:nvSpPr>
        <p:spPr>
          <a:xfrm>
            <a:off x="8412480" y="1426464"/>
            <a:ext cx="3154680" cy="1225296"/>
          </a:xfrm>
          <a:prstGeom prst="roundRect">
            <a:avLst/>
          </a:prstGeom>
          <a:solidFill>
            <a:srgbClr val="E8F7F9"/>
          </a:solidFill>
          <a:ln w="12700">
            <a:solidFill>
              <a:srgbClr val="B9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_heading_timeline"/>
          <p:cNvSpPr txBox="1"/>
          <p:nvPr/>
        </p:nvSpPr>
        <p:spPr>
          <a:xfrm>
            <a:off x="8595359" y="1609344"/>
            <a:ext cx="2651760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550" b="1">
                <a:solidFill>
                  <a:srgbClr val="1F4E79"/>
                </a:solidFill>
                <a:latin typeface="Aptos"/>
              </a:rPr>
              <a:t>Timeline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59" y="1938528"/>
            <a:ext cx="2697480" cy="49377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150" b="0">
                <a:solidFill>
                  <a:srgbClr val="112A4A"/>
                </a:solidFill>
                <a:latin typeface="Aptos"/>
              </a:rPr>
              <a:t>Council packet due May 24
Award letters by June 7</a:t>
            </a:r>
          </a:p>
        </p:txBody>
      </p:sp>
      <p:sp>
        <p:nvSpPr>
          <p:cNvPr id="20" name="risk_watch_panel"/>
          <p:cNvSpPr/>
          <p:nvPr/>
        </p:nvSpPr>
        <p:spPr>
          <a:xfrm>
            <a:off x="621792" y="3127248"/>
            <a:ext cx="5440680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3C0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346704"/>
            <a:ext cx="2011680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550" b="1">
                <a:solidFill>
                  <a:srgbClr val="1F4E79"/>
                </a:solidFill>
                <a:latin typeface="Aptos"/>
              </a:rPr>
              <a:t>Risk watch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3730752"/>
            <a:ext cx="4800600" cy="6949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150" b="0">
                <a:solidFill>
                  <a:srgbClr val="112A4A"/>
                </a:solidFill>
                <a:latin typeface="Aptos"/>
              </a:rPr>
              <a:t>Procurement timing is the main exposure.
Mitigation: publish pre-award checklist and hold weekly review.</a:t>
            </a:r>
          </a:p>
        </p:txBody>
      </p:sp>
      <p:sp>
        <p:nvSpPr>
          <p:cNvPr id="23" name="council_checkpoint_panel"/>
          <p:cNvSpPr/>
          <p:nvPr/>
        </p:nvSpPr>
        <p:spPr>
          <a:xfrm>
            <a:off x="6419088" y="3127248"/>
            <a:ext cx="5120640" cy="1755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3C0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346704"/>
            <a:ext cx="2651760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550" b="1">
                <a:solidFill>
                  <a:srgbClr val="1F4E79"/>
                </a:solidFill>
                <a:latin typeface="Aptos"/>
              </a:rPr>
              <a:t>Council checkpoint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544" y="3730752"/>
            <a:ext cx="4389120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150" b="0">
                <a:solidFill>
                  <a:srgbClr val="112A4A"/>
                </a:solidFill>
                <a:latin typeface="Aptos"/>
              </a:rPr>
              <a:t>Decision memo • Finance sign-off • District appendix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8544" y="4133087"/>
            <a:ext cx="452628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5B6B80"/>
                </a:solidFill>
                <a:latin typeface="Aptos"/>
              </a:rPr>
              <a:t>Template rule: cards align to 0.42 in grid and stay clear of protected notices.</a:t>
            </a:r>
          </a:p>
        </p:txBody>
      </p:sp>
      <p:sp>
        <p:nvSpPr>
          <p:cNvPr id="27" name="oversight_callout"/>
          <p:cNvSpPr/>
          <p:nvPr/>
        </p:nvSpPr>
        <p:spPr>
          <a:xfrm>
            <a:off x="7479792" y="5084064"/>
            <a:ext cx="3913632" cy="841248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ersight_callout_text"/>
          <p:cNvSpPr txBox="1"/>
          <p:nvPr/>
        </p:nvSpPr>
        <p:spPr>
          <a:xfrm>
            <a:off x="7644383" y="5321808"/>
            <a:ext cx="3456432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200" b="1">
                <a:solidFill>
                  <a:srgbClr val="112A4A"/>
                </a:solidFill>
                <a:latin typeface="Aptos"/>
              </a:rPr>
              <a:t>Oversight callout: add procurement review checkpoint by May 24.</a:t>
            </a:r>
          </a:p>
        </p:txBody>
      </p:sp>
      <p:sp>
        <p:nvSpPr>
          <p:cNvPr id="29" name="protected_legal_notice"/>
          <p:cNvSpPr txBox="1"/>
          <p:nvPr/>
        </p:nvSpPr>
        <p:spPr>
          <a:xfrm>
            <a:off x="640080" y="5870448"/>
            <a:ext cx="7086600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50" b="1">
                <a:solidFill>
                  <a:srgbClr val="5B6B80"/>
                </a:solidFill>
                <a:latin typeface="Aptos"/>
              </a:rPr>
              <a:t>Protected legal notice: FY26 allocations remain preliminary until council adoption.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mplate_header_band"/>
          <p:cNvSpPr/>
          <p:nvPr/>
        </p:nvSpPr>
        <p:spPr>
          <a:xfrm>
            <a:off x="0" y="0"/>
            <a:ext cx="12191999" cy="585216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tro_civic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91440"/>
            <a:ext cx="402336" cy="402336"/>
          </a:xfrm>
          <a:prstGeom prst="rect">
            <a:avLst/>
          </a:prstGeom>
        </p:spPr>
      </p:pic>
      <p:sp>
        <p:nvSpPr>
          <p:cNvPr id="4" name="template_title"/>
          <p:cNvSpPr txBox="1"/>
          <p:nvPr/>
        </p:nvSpPr>
        <p:spPr>
          <a:xfrm>
            <a:off x="859536" y="128016"/>
            <a:ext cx="68580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Metro Civic Grants: FY26 Oversight</a:t>
            </a:r>
          </a:p>
        </p:txBody>
      </p:sp>
      <p:sp>
        <p:nvSpPr>
          <p:cNvPr id="5" name="template_header_label"/>
          <p:cNvSpPr txBox="1"/>
          <p:nvPr/>
        </p:nvSpPr>
        <p:spPr>
          <a:xfrm>
            <a:off x="8275320" y="164592"/>
            <a:ext cx="3291840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METRO CIVIC GRANTS OFFICE</a:t>
            </a:r>
          </a:p>
        </p:txBody>
      </p:sp>
      <p:sp>
        <p:nvSpPr>
          <p:cNvPr id="6" name="template_footer_band"/>
          <p:cNvSpPr/>
          <p:nvPr/>
        </p:nvSpPr>
        <p:spPr>
          <a:xfrm>
            <a:off x="0" y="6473952"/>
            <a:ext cx="12191999" cy="384048"/>
          </a:xfrm>
          <a:prstGeom prst="rect">
            <a:avLst/>
          </a:prstGeom>
          <a:solidFill>
            <a:srgbClr val="112A4A"/>
          </a:solidFill>
          <a:ln w="12700">
            <a:solidFill>
              <a:srgbClr val="11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mplate_footer_text"/>
          <p:cNvSpPr txBox="1"/>
          <p:nvPr/>
        </p:nvSpPr>
        <p:spPr>
          <a:xfrm>
            <a:off x="402336" y="6547104"/>
            <a:ext cx="676656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Aptos"/>
              </a:rPr>
              <a:t>PUBLIC TEMPLATE • Metro Civic Grants Office • Confidential 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49056" y="6547104"/>
            <a:ext cx="310896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850" b="0">
                <a:solidFill>
                  <a:srgbClr val="FFFFFF"/>
                </a:solidFill>
                <a:latin typeface="Aptos"/>
              </a:rPr>
              <a:t>Template margin: 0.42 in minimum</a:t>
            </a:r>
          </a:p>
        </p:txBody>
      </p:sp>
      <p:sp>
        <p:nvSpPr>
          <p:cNvPr id="9" name="section_band"/>
          <p:cNvSpPr/>
          <p:nvPr/>
        </p:nvSpPr>
        <p:spPr>
          <a:xfrm>
            <a:off x="438912" y="804672"/>
            <a:ext cx="11292840" cy="384048"/>
          </a:xfrm>
          <a:prstGeom prst="rect">
            <a:avLst/>
          </a:prstGeom>
          <a:solidFill>
            <a:srgbClr val="006F80"/>
          </a:solidFill>
          <a:ln w="12700">
            <a:solidFill>
              <a:srgbClr val="006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pliance_monitoring"/>
          <p:cNvSpPr txBox="1"/>
          <p:nvPr/>
        </p:nvSpPr>
        <p:spPr>
          <a:xfrm>
            <a:off x="585216" y="896112"/>
            <a:ext cx="5577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300" b="1">
                <a:solidFill>
                  <a:srgbClr val="F5C542"/>
                </a:solidFill>
                <a:latin typeface="Aptos"/>
              </a:rPr>
              <a:t>COMPLIANCE MONITORING</a:t>
            </a:r>
          </a:p>
        </p:txBody>
      </p:sp>
      <p:sp>
        <p:nvSpPr>
          <p:cNvPr id="11" name="compliance_table"/>
          <p:cNvSpPr/>
          <p:nvPr/>
        </p:nvSpPr>
        <p:spPr>
          <a:xfrm>
            <a:off x="640080" y="1353312"/>
            <a:ext cx="10899648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3C0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mpliance_table_title"/>
          <p:cNvSpPr txBox="1"/>
          <p:nvPr/>
        </p:nvSpPr>
        <p:spPr>
          <a:xfrm>
            <a:off x="841248" y="1554480"/>
            <a:ext cx="2103120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500" b="1">
                <a:solidFill>
                  <a:srgbClr val="1F4E79"/>
                </a:solidFill>
                <a:latin typeface="Aptos"/>
              </a:rPr>
              <a:t>Compliance 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1975104"/>
            <a:ext cx="1600200" cy="228600"/>
          </a:xfrm>
          <a:prstGeom prst="rect">
            <a:avLst/>
          </a:prstGeom>
          <a:solidFill>
            <a:srgbClr val="006F80"/>
          </a:solidFill>
          <a:ln w="12700">
            <a:solidFill>
              <a:srgbClr val="006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Area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7872" y="1975104"/>
            <a:ext cx="1600200" cy="228600"/>
          </a:xfrm>
          <a:prstGeom prst="rect">
            <a:avLst/>
          </a:prstGeom>
          <a:solidFill>
            <a:srgbClr val="006F80"/>
          </a:solidFill>
          <a:ln w="12700">
            <a:solidFill>
              <a:srgbClr val="006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50992" y="1975104"/>
            <a:ext cx="1600200" cy="228600"/>
          </a:xfrm>
          <a:prstGeom prst="rect">
            <a:avLst/>
          </a:prstGeom>
          <a:solidFill>
            <a:srgbClr val="006F80"/>
          </a:solidFill>
          <a:ln w="12700">
            <a:solidFill>
              <a:srgbClr val="006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54112" y="1975104"/>
            <a:ext cx="1600200" cy="228600"/>
          </a:xfrm>
          <a:prstGeom prst="rect">
            <a:avLst/>
          </a:prstGeom>
          <a:solidFill>
            <a:srgbClr val="006F80"/>
          </a:solidFill>
          <a:ln w="12700">
            <a:solidFill>
              <a:srgbClr val="006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Next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359152"/>
            <a:ext cx="2212848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112A4A"/>
                </a:solidFill>
                <a:latin typeface="Aptos"/>
              </a:rPr>
              <a:t>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359152"/>
            <a:ext cx="1481328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1">
                <a:solidFill>
                  <a:srgbClr val="41865A"/>
                </a:solidFill>
                <a:latin typeface="Aptos"/>
              </a:rPr>
              <a:t>Green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0992" y="2359152"/>
            <a:ext cx="1481328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112A4A"/>
                </a:solidFill>
                <a:latin typeface="Aptos"/>
              </a:rPr>
              <a:t>M. Chen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112" y="2359152"/>
            <a:ext cx="2706624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112A4A"/>
                </a:solidFill>
                <a:latin typeface="Aptos"/>
              </a:rPr>
              <a:t>Publish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871216"/>
            <a:ext cx="2212848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112A4A"/>
                </a:solidFill>
                <a:latin typeface="Aptos"/>
              </a:rPr>
              <a:t>Procurement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2871216"/>
            <a:ext cx="1481328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1">
                <a:solidFill>
                  <a:srgbClr val="B1363D"/>
                </a:solidFill>
                <a:latin typeface="Aptos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50992" y="2871216"/>
            <a:ext cx="1481328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112A4A"/>
                </a:solidFill>
                <a:latin typeface="Aptos"/>
              </a:rPr>
              <a:t>R. Alvarez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2871216"/>
            <a:ext cx="2706624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112A4A"/>
                </a:solidFill>
                <a:latin typeface="Aptos"/>
              </a:rPr>
              <a:t>Review checklist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383280"/>
            <a:ext cx="2212848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112A4A"/>
                </a:solidFill>
                <a:latin typeface="Aptos"/>
              </a:rPr>
              <a:t>Equity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2" y="3383280"/>
            <a:ext cx="1481328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1">
                <a:solidFill>
                  <a:srgbClr val="41865A"/>
                </a:solidFill>
                <a:latin typeface="Aptos"/>
              </a:rPr>
              <a:t>Green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50992" y="3383280"/>
            <a:ext cx="1481328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112A4A"/>
                </a:solidFill>
                <a:latin typeface="Aptos"/>
              </a:rPr>
              <a:t>T. Malik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3383280"/>
            <a:ext cx="2706624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112A4A"/>
                </a:solidFill>
                <a:latin typeface="Aptos"/>
              </a:rPr>
              <a:t>Archive scorecards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572000"/>
            <a:ext cx="5010912" cy="987552"/>
          </a:xfrm>
          <a:prstGeom prst="roundRect">
            <a:avLst/>
          </a:prstGeom>
          <a:solidFill>
            <a:srgbClr val="EAF3F9"/>
          </a:solidFill>
          <a:ln w="12700">
            <a:solidFill>
              <a:srgbClr val="B3C0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4754880"/>
            <a:ext cx="146304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200" b="1">
                <a:solidFill>
                  <a:srgbClr val="1F4E79"/>
                </a:solidFill>
                <a:latin typeface="Aptos"/>
              </a:rPr>
              <a:t>Template note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5065776"/>
            <a:ext cx="4352544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112A4A"/>
                </a:solidFill>
                <a:latin typeface="Aptos"/>
              </a:rPr>
              <a:t>Keep headers in teal, body text Aptos 10.5 pt, and table inside the grid.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19088" y="4572000"/>
            <a:ext cx="51206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3C0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4754880"/>
            <a:ext cx="2240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200" b="1">
                <a:solidFill>
                  <a:srgbClr val="1F4E79"/>
                </a:solidFill>
                <a:latin typeface="Aptos"/>
              </a:rPr>
              <a:t>Protected footer region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5065776"/>
            <a:ext cx="4023360" cy="237744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1050" b="0">
                <a:solidFill>
                  <a:srgbClr val="112A4A"/>
                </a:solidFill>
                <a:latin typeface="Aptos"/>
              </a:rPr>
              <a:t>Footer and audit sentinel must not move into slide content.</a:t>
            </a:r>
          </a:p>
        </p:txBody>
      </p:sp>
      <p:sp>
        <p:nvSpPr>
          <p:cNvPr id="35" name="audit_trail_invariant"/>
          <p:cNvSpPr txBox="1"/>
          <p:nvPr/>
        </p:nvSpPr>
        <p:spPr>
          <a:xfrm>
            <a:off x="640080" y="5870448"/>
            <a:ext cx="4846320" cy="21945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r>
              <a:rPr sz="950" b="1">
                <a:solidFill>
                  <a:srgbClr val="5B6B80"/>
                </a:solidFill>
                <a:latin typeface="Aptos"/>
              </a:rPr>
              <a:t>Do not edit: Metro Civic audit trail invariant.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