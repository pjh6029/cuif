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_header_band"/>
          <p:cNvSpPr/>
          <p:nvPr/>
        </p:nvSpPr>
        <p:spPr>
          <a:xfrm>
            <a:off x="0" y="0"/>
            <a:ext cx="12191999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tro_civic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1440"/>
            <a:ext cx="402336" cy="402336"/>
          </a:xfrm>
          <a:prstGeom prst="rect">
            <a:avLst/>
          </a:prstGeom>
        </p:spPr>
      </p:pic>
      <p:sp>
        <p:nvSpPr>
          <p:cNvPr id="4" name="template_title"/>
          <p:cNvSpPr txBox="1"/>
          <p:nvPr/>
        </p:nvSpPr>
        <p:spPr>
          <a:xfrm>
            <a:off x="859536" y="128016"/>
            <a:ext cx="68580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Metro Civic Grants: FY26 Oversight</a:t>
            </a:r>
          </a:p>
        </p:txBody>
      </p:sp>
      <p:sp>
        <p:nvSpPr>
          <p:cNvPr id="5" name="template_header_label"/>
          <p:cNvSpPr txBox="1"/>
          <p:nvPr/>
        </p:nvSpPr>
        <p:spPr>
          <a:xfrm>
            <a:off x="8275320" y="16459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METRO CIVIC GRANTS OFFICE</a:t>
            </a:r>
          </a:p>
        </p:txBody>
      </p:sp>
      <p:sp>
        <p:nvSpPr>
          <p:cNvPr id="6" name="template_footer_band"/>
          <p:cNvSpPr/>
          <p:nvPr/>
        </p:nvSpPr>
        <p:spPr>
          <a:xfrm>
            <a:off x="0" y="6473952"/>
            <a:ext cx="12191999" cy="384048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mplate_footer_text"/>
          <p:cNvSpPr txBox="1"/>
          <p:nvPr/>
        </p:nvSpPr>
        <p:spPr>
          <a:xfrm>
            <a:off x="402336" y="6547104"/>
            <a:ext cx="67665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PUBLIC TEMPLATE • Metro Civic Grants Office • Confidential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6547104"/>
            <a:ext cx="31089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850" b="0">
                <a:solidFill>
                  <a:srgbClr val="FFFFFF"/>
                </a:solidFill>
                <a:latin typeface="Aptos"/>
              </a:rPr>
              <a:t>Template margin: 0.42 in minimum</a:t>
            </a:r>
          </a:p>
        </p:txBody>
      </p:sp>
      <p:sp>
        <p:nvSpPr>
          <p:cNvPr id="9" name="section_band"/>
          <p:cNvSpPr/>
          <p:nvPr/>
        </p:nvSpPr>
        <p:spPr>
          <a:xfrm>
            <a:off x="438912" y="804672"/>
            <a:ext cx="11292840" cy="384048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gram_status_briefing"/>
          <p:cNvSpPr txBox="1"/>
          <p:nvPr/>
        </p:nvSpPr>
        <p:spPr>
          <a:xfrm>
            <a:off x="585216" y="896112"/>
            <a:ext cx="5577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PROGRAM STATUS BRIEFING</a:t>
            </a:r>
          </a:p>
        </p:txBody>
      </p:sp>
      <p:sp>
        <p:nvSpPr>
          <p:cNvPr id="11" name="card_program_health"/>
          <p:cNvSpPr/>
          <p:nvPr/>
        </p:nvSpPr>
        <p:spPr>
          <a:xfrm>
            <a:off x="621792" y="1426464"/>
            <a:ext cx="315468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_heading_program_health"/>
          <p:cNvSpPr txBox="1"/>
          <p:nvPr/>
        </p:nvSpPr>
        <p:spPr>
          <a:xfrm>
            <a:off x="804672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Program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On track: 14 active grants
2 require technical assistance</a:t>
            </a:r>
          </a:p>
        </p:txBody>
      </p:sp>
      <p:sp>
        <p:nvSpPr>
          <p:cNvPr id="14" name="card_funding_status"/>
          <p:cNvSpPr/>
          <p:nvPr/>
        </p:nvSpPr>
        <p:spPr>
          <a:xfrm>
            <a:off x="4517136" y="1426464"/>
            <a:ext cx="3154680" cy="1225296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ing_funding_status"/>
          <p:cNvSpPr txBox="1"/>
          <p:nvPr/>
        </p:nvSpPr>
        <p:spPr>
          <a:xfrm>
            <a:off x="4700016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Funding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$42.8M obligated
91% reporting complete</a:t>
            </a:r>
          </a:p>
        </p:txBody>
      </p:sp>
      <p:sp>
        <p:nvSpPr>
          <p:cNvPr id="17" name="card_timeline"/>
          <p:cNvSpPr/>
          <p:nvPr/>
        </p:nvSpPr>
        <p:spPr>
          <a:xfrm>
            <a:off x="8412480" y="1426464"/>
            <a:ext cx="3154680" cy="1225296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heading_timeline"/>
          <p:cNvSpPr txBox="1"/>
          <p:nvPr/>
        </p:nvSpPr>
        <p:spPr>
          <a:xfrm>
            <a:off x="8595359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Council packet due May 24
Award letters by June 7</a:t>
            </a:r>
          </a:p>
        </p:txBody>
      </p:sp>
      <p:sp>
        <p:nvSpPr>
          <p:cNvPr id="20" name="risk_watch_panel"/>
          <p:cNvSpPr/>
          <p:nvPr/>
        </p:nvSpPr>
        <p:spPr>
          <a:xfrm>
            <a:off x="621792" y="3127248"/>
            <a:ext cx="54406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201168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Risk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730752"/>
            <a:ext cx="4800600" cy="6949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Procurement timing is the main exposure.
Mitigation: publish pre-award checklist and hold weekly review.</a:t>
            </a:r>
          </a:p>
        </p:txBody>
      </p:sp>
      <p:sp>
        <p:nvSpPr>
          <p:cNvPr id="23" name="council_checkpoint_panel"/>
          <p:cNvSpPr/>
          <p:nvPr/>
        </p:nvSpPr>
        <p:spPr>
          <a:xfrm>
            <a:off x="6419088" y="3127248"/>
            <a:ext cx="512064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346704"/>
            <a:ext cx="265176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Council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730752"/>
            <a:ext cx="43891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Decision memo • Finance sign-off • District appendix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133087"/>
            <a:ext cx="45262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5B6B80"/>
                </a:solidFill>
                <a:latin typeface="Aptos"/>
              </a:rPr>
              <a:t>Template rule: cards align to 0.42 in grid and stay clear of protected notices.</a:t>
            </a:r>
          </a:p>
        </p:txBody>
      </p:sp>
      <p:sp>
        <p:nvSpPr>
          <p:cNvPr id="27" name="protected_legal_notice"/>
          <p:cNvSpPr txBox="1"/>
          <p:nvPr/>
        </p:nvSpPr>
        <p:spPr>
          <a:xfrm>
            <a:off x="640080" y="5870448"/>
            <a:ext cx="70866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50" b="1">
                <a:solidFill>
                  <a:srgbClr val="5B6B80"/>
                </a:solidFill>
                <a:latin typeface="Aptos"/>
              </a:rPr>
              <a:t>Protected legal notice: FY26 allocations remain preliminary until council adoption.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_header_band"/>
          <p:cNvSpPr/>
          <p:nvPr/>
        </p:nvSpPr>
        <p:spPr>
          <a:xfrm>
            <a:off x="0" y="0"/>
            <a:ext cx="12191999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tro_civic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1440"/>
            <a:ext cx="402336" cy="402336"/>
          </a:xfrm>
          <a:prstGeom prst="rect">
            <a:avLst/>
          </a:prstGeom>
        </p:spPr>
      </p:pic>
      <p:sp>
        <p:nvSpPr>
          <p:cNvPr id="4" name="template_title"/>
          <p:cNvSpPr txBox="1"/>
          <p:nvPr/>
        </p:nvSpPr>
        <p:spPr>
          <a:xfrm>
            <a:off x="859536" y="128016"/>
            <a:ext cx="68580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Metro Civic Grants: FY26 Oversight</a:t>
            </a:r>
          </a:p>
        </p:txBody>
      </p:sp>
      <p:sp>
        <p:nvSpPr>
          <p:cNvPr id="5" name="template_header_label"/>
          <p:cNvSpPr txBox="1"/>
          <p:nvPr/>
        </p:nvSpPr>
        <p:spPr>
          <a:xfrm>
            <a:off x="8275320" y="16459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METRO CIVIC GRANTS OFFICE</a:t>
            </a:r>
          </a:p>
        </p:txBody>
      </p:sp>
      <p:sp>
        <p:nvSpPr>
          <p:cNvPr id="6" name="template_footer_band"/>
          <p:cNvSpPr/>
          <p:nvPr/>
        </p:nvSpPr>
        <p:spPr>
          <a:xfrm>
            <a:off x="0" y="6473952"/>
            <a:ext cx="12191999" cy="384048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mplate_footer_text"/>
          <p:cNvSpPr txBox="1"/>
          <p:nvPr/>
        </p:nvSpPr>
        <p:spPr>
          <a:xfrm>
            <a:off x="402336" y="6547104"/>
            <a:ext cx="67665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PUBLIC TEMPLATE • Metro Civic Grants Office • Confidential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6547104"/>
            <a:ext cx="31089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850" b="0">
                <a:solidFill>
                  <a:srgbClr val="FFFFFF"/>
                </a:solidFill>
                <a:latin typeface="Aptos"/>
              </a:rPr>
              <a:t>Template margin: 0.42 in minimum</a:t>
            </a:r>
          </a:p>
        </p:txBody>
      </p:sp>
      <p:sp>
        <p:nvSpPr>
          <p:cNvPr id="9" name="section_band"/>
          <p:cNvSpPr/>
          <p:nvPr/>
        </p:nvSpPr>
        <p:spPr>
          <a:xfrm>
            <a:off x="438912" y="804672"/>
            <a:ext cx="11292840" cy="384048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liance_monitoring"/>
          <p:cNvSpPr txBox="1"/>
          <p:nvPr/>
        </p:nvSpPr>
        <p:spPr>
          <a:xfrm>
            <a:off x="585216" y="896112"/>
            <a:ext cx="5577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COMPLIANCE MONITORING</a:t>
            </a:r>
          </a:p>
        </p:txBody>
      </p:sp>
      <p:sp>
        <p:nvSpPr>
          <p:cNvPr id="11" name="compliance_table"/>
          <p:cNvSpPr/>
          <p:nvPr/>
        </p:nvSpPr>
        <p:spPr>
          <a:xfrm>
            <a:off x="640080" y="1353312"/>
            <a:ext cx="108996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pliance_table_title"/>
          <p:cNvSpPr txBox="1"/>
          <p:nvPr/>
        </p:nvSpPr>
        <p:spPr>
          <a:xfrm>
            <a:off x="841248" y="1554480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Aptos"/>
              </a:rPr>
              <a:t>Compliance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5411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359152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359152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41865A"/>
                </a:solidFill>
                <a:latin typeface="Aptos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359152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M. 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359152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Publish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71216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871216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B1363D"/>
                </a:solidFill>
                <a:latin typeface="Apto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2871216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R. Alvarez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871216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Review checklist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383280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Equity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383280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41865A"/>
                </a:solidFill>
                <a:latin typeface="Aptos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383280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T. Malik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383280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Archive scorecards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5010912" cy="987552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754880"/>
            <a:ext cx="14630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Aptos"/>
              </a:rPr>
              <a:t>Template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065776"/>
            <a:ext cx="435254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Keep headers in teal, body text Aptos 10.5 pt, and table inside the grid.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572000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754880"/>
            <a:ext cx="2240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Aptos"/>
              </a:rPr>
              <a:t>Protected footer region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65776"/>
            <a:ext cx="402336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Footer and audit sentinel must not move into slide content.</a:t>
            </a:r>
          </a:p>
        </p:txBody>
      </p:sp>
      <p:sp>
        <p:nvSpPr>
          <p:cNvPr id="35" name="audit_trail_invariant"/>
          <p:cNvSpPr txBox="1"/>
          <p:nvPr/>
        </p:nvSpPr>
        <p:spPr>
          <a:xfrm>
            <a:off x="640080" y="5870448"/>
            <a:ext cx="484632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50" b="1">
                <a:solidFill>
                  <a:srgbClr val="5B6B80"/>
                </a:solidFill>
                <a:latin typeface="Aptos"/>
              </a:rPr>
              <a:t>Do not edit: Metro Civic audit trail invariant.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