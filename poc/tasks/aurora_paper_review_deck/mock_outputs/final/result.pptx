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1F4E79"/>
          </a:solidFill>
          <a:ln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01168" y="1225296"/>
            <a:ext cx="105156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1">
                <a:solidFill>
                  <a:srgbClr val="1F4E79"/>
                </a:solidFill>
              </a:rPr>
              <a:t>CUIF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" y="1645920"/>
            <a:ext cx="658368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50" b="1">
                <a:solidFill>
                  <a:srgbClr val="44546A"/>
                </a:solidFill>
              </a:rPr>
              <a:t>1. Multi-turn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1168" y="2029968"/>
            <a:ext cx="658368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50" b="1">
                <a:solidFill>
                  <a:srgbClr val="44546A"/>
                </a:solidFill>
              </a:rPr>
              <a:t>2.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" y="2414016"/>
            <a:ext cx="658368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850" b="1">
                <a:solidFill>
                  <a:srgbClr val="44546A"/>
                </a:solidFill>
              </a:rPr>
              <a:t>3. Preserve</a:t>
            </a:r>
          </a:p>
        </p:txBody>
      </p:sp>
      <p:sp>
        <p:nvSpPr>
          <p:cNvPr id="7" name="aurora-title"/>
          <p:cNvSpPr txBox="1"/>
          <p:nvPr/>
        </p:nvSpPr>
        <p:spPr>
          <a:xfrm>
            <a:off x="502920" y="256032"/>
            <a:ext cx="8183879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400" b="1">
                <a:solidFill>
                  <a:srgbClr val="1F4E79"/>
                </a:solidFill>
              </a:rPr>
              <a:t>AURORA: Actionable UI Refinement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786384"/>
            <a:ext cx="804672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50" b="0">
                <a:solidFill>
                  <a:srgbClr val="44546A"/>
                </a:solidFill>
              </a:rPr>
              <a:t>Paper review for CUIF reading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1225296"/>
            <a:ext cx="3611880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07008" y="1408176"/>
            <a:ext cx="315468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1F4E79"/>
                </a:solidFill>
              </a:rPr>
              <a:t>Main claim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1865376"/>
            <a:ext cx="3154680" cy="8961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700" b="1">
                <a:solidFill>
                  <a:srgbClr val="172033"/>
                </a:solidFill>
              </a:rPr>
              <a:t>Trajectory-aware office evaluation exposes failures that final-only grading hides.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889504"/>
            <a:ext cx="315468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150" b="0">
                <a:solidFill>
                  <a:srgbClr val="44546A"/>
                </a:solidFill>
              </a:rPr>
              <a:t>Why it matters: the evaluator can see revision quality, not only final 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81728" y="1225296"/>
            <a:ext cx="4187952" cy="2176272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01184" y="1408176"/>
            <a:ext cx="3584448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100" b="1">
                <a:solidFill>
                  <a:srgbClr val="C56A00"/>
                </a:solidFill>
              </a:rPr>
              <a:t>Method snapshot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56048" y="1901952"/>
            <a:ext cx="1024128" cy="512064"/>
          </a:xfrm>
          <a:prstGeom prst="roundRect">
            <a:avLst/>
          </a:prstGeom>
          <a:solidFill>
            <a:srgbClr val="EAF2FB"/>
          </a:solidFill>
          <a:ln w="1651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1768" y="2039112"/>
            <a:ext cx="932688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1F4E79"/>
                </a:solidFill>
              </a:rPr>
              <a:t>Action trace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91072" y="1901952"/>
            <a:ext cx="1261872" cy="512064"/>
          </a:xfrm>
          <a:prstGeom prst="roundRect">
            <a:avLst/>
          </a:prstGeom>
          <a:solidFill>
            <a:srgbClr val="FFF5E6"/>
          </a:solidFill>
          <a:ln w="1651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2039112"/>
            <a:ext cx="1170431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C56A00"/>
                </a:solidFill>
              </a:rPr>
              <a:t>Rendered artifact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82127" y="1901952"/>
            <a:ext cx="877824" cy="512064"/>
          </a:xfrm>
          <a:prstGeom prst="roundRect">
            <a:avLst/>
          </a:prstGeom>
          <a:solidFill>
            <a:srgbClr val="EAF7EF"/>
          </a:solidFill>
          <a:ln w="1651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2039112"/>
            <a:ext cx="786384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830" b="1">
                <a:solidFill>
                  <a:srgbClr val="2E7D32"/>
                </a:solidFill>
              </a:rPr>
              <a:t>Structured checks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016752" y="2066543"/>
            <a:ext cx="228600" cy="164592"/>
          </a:xfrm>
          <a:prstGeom prst="rightArrow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ight Arrow 21"/>
          <p:cNvSpPr/>
          <p:nvPr/>
        </p:nvSpPr>
        <p:spPr>
          <a:xfrm>
            <a:off x="7607808" y="2066543"/>
            <a:ext cx="228600" cy="164592"/>
          </a:xfrm>
          <a:prstGeom prst="rightArrow">
            <a:avLst/>
          </a:prstGeom>
          <a:solidFill>
            <a:srgbClr val="44546A"/>
          </a:solidFill>
          <a:ln>
            <a:solidFill>
              <a:srgbClr val="4454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56048" y="2898648"/>
            <a:ext cx="3794760" cy="25603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pPr algn="ctr"/>
            <a:r>
              <a:rPr sz="1250" b="1">
                <a:solidFill>
                  <a:srgbClr val="1F4E79"/>
                </a:solidFill>
              </a:rPr>
              <a:t>Source figure: evaluator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3840480"/>
            <a:ext cx="3456432" cy="530352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212080" y="3931920"/>
            <a:ext cx="3310127" cy="365759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1">
                <a:solidFill>
                  <a:srgbClr val="6B3F00"/>
                </a:solidFill>
              </a:rPr>
              <a:t>Decision prompt: Are multimodal constraints weighted enough?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02336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000" b="1">
                <a:solidFill>
                  <a:srgbClr val="172033"/>
                </a:solidFill>
              </a:rPr>
              <a:t>Evidence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32688"/>
            <a:ext cx="7863840" cy="29260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0">
                <a:solidFill>
                  <a:srgbClr val="44546A"/>
                </a:solidFill>
              </a:rPr>
              <a:t>Source facts extracted from the paper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609344"/>
            <a:ext cx="2468880" cy="1536192"/>
          </a:xfrm>
          <a:prstGeom prst="roundRect">
            <a:avLst/>
          </a:prstGeom>
          <a:solidFill>
            <a:srgbClr val="EAF2FB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1F4E79"/>
                </a:solidFill>
              </a:rPr>
              <a:t>Benchmark: 120 office tasks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Task scale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609344"/>
            <a:ext cx="2468880" cy="1536192"/>
          </a:xfrm>
          <a:prstGeom prst="roundRect">
            <a:avLst/>
          </a:prstGeom>
          <a:solidFill>
            <a:srgbClr val="FFF5E6"/>
          </a:solidFill>
          <a:ln w="19050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39312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C56A00"/>
                </a:solidFill>
              </a:rPr>
              <a:t>Signals: screenshots + OOXML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9312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Multimodal evidence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609344"/>
            <a:ext cx="2468880" cy="1536192"/>
          </a:xfrm>
          <a:prstGeom prst="roundRect">
            <a:avLst/>
          </a:prstGeom>
          <a:solidFill>
            <a:srgbClr val="EAF7E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28231" y="1847088"/>
            <a:ext cx="2139696" cy="47548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1">
                <a:solidFill>
                  <a:srgbClr val="2E7D32"/>
                </a:solidFill>
              </a:rPr>
              <a:t>Outcome: +18% repair success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8231" y="2505456"/>
            <a:ext cx="2139696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50" b="0">
                <a:solidFill>
                  <a:srgbClr val="44546A"/>
                </a:solidFill>
              </a:rPr>
              <a:t>Observed 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3767328"/>
            <a:ext cx="7699248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172033"/>
                </a:solidFill>
              </a:rPr>
              <a:t>Interpretation: combine visual state, structured artifact data, and per-turn scoring.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863840" cy="438912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3200" b="1">
                <a:solidFill>
                  <a:srgbClr val="1F4E79"/>
                </a:solidFill>
              </a:rPr>
              <a:t>CUIF evaluation rubric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14400"/>
            <a:ext cx="7726679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500" b="1">
                <a:solidFill>
                  <a:srgbClr val="172033"/>
                </a:solidFill>
              </a:rPr>
              <a:t>Use partial credit to separate creation, revision, and preservation failures.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1444752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527048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Content fidelity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1527048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Required claims, facts, and exact strings are present.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29968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2112264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Layout fidelity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2112264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Regions, visual hierarchy, and sketch constraints are followed.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2615184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697480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Collateral preservation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697480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Protected slides and non-target content stay unchanged.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200400"/>
            <a:ext cx="7726679" cy="420624"/>
          </a:xfrm>
          <a:prstGeom prst="rect">
            <a:avLst/>
          </a:prstGeom>
          <a:solidFill>
            <a:srgbClr val="F7FBFF"/>
          </a:solidFill>
          <a:ln w="15875">
            <a:solidFill>
              <a:srgbClr val="C8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77824" y="3282696"/>
            <a:ext cx="219456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350" b="1">
                <a:solidFill>
                  <a:srgbClr val="1F4E79"/>
                </a:solidFill>
              </a:rPr>
              <a:t>Turn-level progress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34640" y="3282696"/>
            <a:ext cx="5349240" cy="228600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0">
                <a:solidFill>
                  <a:srgbClr val="172033"/>
                </a:solidFill>
              </a:rPr>
              <a:t>Each revision keeps prior valid work while adding requested changes.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56048" y="4169663"/>
            <a:ext cx="3493008" cy="384048"/>
          </a:xfrm>
          <a:prstGeom prst="roundRect">
            <a:avLst/>
          </a:prstGeom>
          <a:solidFill>
            <a:srgbClr val="FFF5E6"/>
          </a:solidFill>
          <a:ln w="15875">
            <a:solidFill>
              <a:srgbClr val="C56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0" y="4261103"/>
            <a:ext cx="3346703" cy="21945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220" b="1">
                <a:solidFill>
                  <a:srgbClr val="6B3F00"/>
                </a:solidFill>
              </a:rPr>
              <a:t>Decision needed: tune judge weights before pilot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38912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600" b="1">
                <a:solidFill>
                  <a:srgbClr val="1F4E79"/>
                </a:solidFill>
              </a:rPr>
              <a:t>Protected benchmark context</a:t>
            </a:r>
          </a:p>
        </p:txBody>
      </p:sp>
      <p:sp>
        <p:nvSpPr>
          <p:cNvPr id="3" name="protected-invariant"/>
          <p:cNvSpPr txBox="1"/>
          <p:nvPr/>
        </p:nvSpPr>
        <p:spPr>
          <a:xfrm>
            <a:off x="640080" y="1115568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2000" b="0">
                <a:solidFill>
                  <a:srgbClr val="172033"/>
                </a:solidFill>
              </a:rPr>
              <a:t>Do not edit: AURORA paper invariant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7863840" cy="384048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600" b="0">
                <a:solidFill>
                  <a:srgbClr val="44546A"/>
                </a:solidFill>
              </a:rPr>
              <a:t>Evaluation note: this slide must remain text-identical across all turns.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267712"/>
            <a:ext cx="7863840" cy="310896"/>
          </a:xfrm>
          <a:prstGeom prst="rect">
            <a:avLst/>
          </a:prstGeom>
          <a:noFill/>
        </p:spPr>
        <p:txBody>
          <a:bodyPr wrap="none" lIns="36576" rIns="36576" tIns="18288" bIns="18288">
            <a:spAutoFit/>
          </a:bodyPr>
          <a:lstStyle/>
          <a:p>
            <a:r>
              <a:rPr sz="1400" b="0">
                <a:solidFill>
                  <a:srgbClr val="44546A"/>
                </a:solidFill>
              </a:rPr>
              <a:t>Protected owner: CUIF benchmark author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