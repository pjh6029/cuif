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Ticket demand vs staffed capacity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Ticket demand</c:v>
                </c:pt>
              </c:strCache>
            </c:strRef>
          </c:tx>
          <c:spPr>
            <a:solidFill>
              <a:srgbClr val="A6CEE3"/>
            </a:solidFill>
          </c:spPr>
          <c:dLbls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1180</c:v>
                </c:pt>
                <c:pt idx="1">
                  <c:v>1285</c:v>
                </c:pt>
                <c:pt idx="2">
                  <c:v>1420</c:v>
                </c:pt>
                <c:pt idx="3">
                  <c:v>1580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Staffed capacity</c:v>
                </c:pt>
              </c:strCache>
            </c:strRef>
          </c:tx>
          <c:spPr>
            <a:solidFill>
              <a:srgbClr val="1F78B4"/>
            </a:solidFill>
          </c:spPr>
          <c:dLbls>
            <c:dLblPos val="outEnd"/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1220</c:v>
                </c:pt>
                <c:pt idx="1">
                  <c:v>1320</c:v>
                </c:pt>
                <c:pt idx="2">
                  <c:v>1460</c:v>
                </c:pt>
                <c:pt idx="3">
                  <c:v>1510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700.0"/>
          <c:min val="1000.0"/>
        </c:scaling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 w="15240">
            <a:solidFill>
              <a:srgbClr val="FAF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capacity_title"/>
          <p:cNvSpPr txBox="1"/>
          <p:nvPr/>
        </p:nvSpPr>
        <p:spPr>
          <a:xfrm>
            <a:off x="530352" y="329184"/>
            <a:ext cx="6309360" cy="512064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3400" b="1">
                <a:solidFill>
                  <a:srgbClr val="1F4E79"/>
                </a:solidFill>
                <a:latin typeface="Aptos"/>
              </a:rPr>
              <a:t>Support Capacity Forecast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877824"/>
            <a:ext cx="6675120" cy="29260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1350" b="0">
                <a:solidFill>
                  <a:srgbClr val="5D7287"/>
                </a:solidFill>
                <a:latin typeface="Aptos"/>
              </a:rPr>
              <a:t>Ticket demand vs staffed capacity from source_metrics.xlsx</a:t>
            </a:r>
          </a:p>
        </p:txBody>
      </p:sp>
      <p:graphicFrame>
        <p:nvGraphicFramePr>
          <p:cNvPr id="6" name="support_capacity_clustered_chart"/>
          <p:cNvGraphicFramePr>
            <a:graphicFrameLocks noGrp="1"/>
          </p:cNvGraphicFramePr>
          <p:nvPr/>
        </p:nvGraphicFramePr>
        <p:xfrm>
          <a:off x="658368" y="1389888"/>
          <a:ext cx="6995160" cy="3977639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768096" y="5413248"/>
            <a:ext cx="4754880" cy="310896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1300" b="0">
                <a:solidFill>
                  <a:srgbClr val="5D7287"/>
                </a:solidFill>
                <a:latin typeface="Aptos"/>
              </a:rPr>
              <a:t>Native clustered column chart from workbook data</a:t>
            </a:r>
          </a:p>
        </p:txBody>
      </p:sp>
      <p:sp>
        <p:nvSpPr>
          <p:cNvPr id="8" name="data_cut_badge"/>
          <p:cNvSpPr/>
          <p:nvPr/>
        </p:nvSpPr>
        <p:spPr>
          <a:xfrm>
            <a:off x="8732520" y="347472"/>
            <a:ext cx="2377440" cy="4937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8B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172033"/>
                </a:solidFill>
                <a:latin typeface="Aptos"/>
              </a:rPr>
              <a:t>Data cut: FY2026 forecast</a:t>
            </a:r>
          </a:p>
        </p:txBody>
      </p:sp>
      <p:sp>
        <p:nvSpPr>
          <p:cNvPr id="9" name="capacity_observations_rail"/>
          <p:cNvSpPr/>
          <p:nvPr/>
        </p:nvSpPr>
        <p:spPr>
          <a:xfrm>
            <a:off x="8577072" y="1444752"/>
            <a:ext cx="2852928" cy="2057400"/>
          </a:xfrm>
          <a:prstGeom prst="roundRect">
            <a:avLst/>
          </a:prstGeom>
          <a:solidFill>
            <a:srgbClr val="E8F7F0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600" b="0">
                <a:solidFill>
                  <a:srgbClr val="172033"/>
                </a:solidFill>
                <a:latin typeface="Aptos"/>
              </a:rPr>
              <a:t>Capacity observations</a:t>
            </a:r>
          </a:p>
          <a:p>
            <a:pPr>
              <a:spcAft>
                <a:spcPts val="0"/>
              </a:spcAft>
            </a:pPr>
            <a:r>
              <a:rPr sz="1600" b="0">
                <a:solidFill>
                  <a:srgbClr val="172033"/>
                </a:solidFill>
                <a:latin typeface="Aptos"/>
              </a:rPr>
              <a:t>Leader: Q4 demand 1580</a:t>
            </a:r>
          </a:p>
          <a:p>
            <a:pPr>
              <a:spcAft>
                <a:spcPts val="0"/>
              </a:spcAft>
            </a:pPr>
            <a:r>
              <a:rPr sz="1600" b="0">
                <a:solidFill>
                  <a:srgbClr val="172033"/>
                </a:solidFill>
                <a:latin typeface="Aptos"/>
              </a:rPr>
              <a:t>Gap: Q4 -70 tickets</a:t>
            </a:r>
          </a:p>
          <a:p>
            <a:pPr>
              <a:spcAft>
                <a:spcPts val="0"/>
              </a:spcAft>
            </a:pPr>
            <a:r>
              <a:rPr sz="1600" b="0">
                <a:solidFill>
                  <a:srgbClr val="172033"/>
                </a:solidFill>
                <a:latin typeface="Aptos"/>
              </a:rPr>
              <a:t>Mitigation: shift 2 weekend pods</a:t>
            </a:r>
          </a:p>
        </p:txBody>
      </p:sp>
      <p:sp>
        <p:nvSpPr>
          <p:cNvPr id="10" name="q4_capacity_gap_insight"/>
          <p:cNvSpPr/>
          <p:nvPr/>
        </p:nvSpPr>
        <p:spPr>
          <a:xfrm>
            <a:off x="713232" y="5705856"/>
            <a:ext cx="6949440" cy="530352"/>
          </a:xfrm>
          <a:prstGeom prst="roundRect">
            <a:avLst/>
          </a:prstGeom>
          <a:solidFill>
            <a:srgbClr val="FFF7DF"/>
          </a:solidFill>
          <a:ln w="15240">
            <a:solidFill>
              <a:srgbClr val="E8B44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550" b="1">
                <a:solidFill>
                  <a:srgbClr val="172033"/>
                </a:solidFill>
                <a:latin typeface="Aptos"/>
              </a:rPr>
              <a:t>Insight: Q4 demand exceeds staffed capacity by 70 tickets; mitigation should shift two weekend pods before launch.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 w="15240">
            <a:solidFill>
              <a:srgbClr val="FAF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20624"/>
            <a:ext cx="3931920" cy="47548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72033"/>
                </a:solidFill>
                <a:latin typeface="Aptos"/>
              </a:rPr>
              <a:t>Workbook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987552"/>
            <a:ext cx="4937760" cy="310896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1500" b="0">
                <a:solidFill>
                  <a:srgbClr val="5D7287"/>
                </a:solidFill>
                <a:latin typeface="Aptos"/>
              </a:rPr>
              <a:t>Source data: support capacity forecast</a:t>
            </a:r>
          </a:p>
        </p:txBody>
      </p:sp>
      <p:sp>
        <p:nvSpPr>
          <p:cNvPr id="6" name="capacity_audit_values"/>
          <p:cNvSpPr/>
          <p:nvPr/>
        </p:nvSpPr>
        <p:spPr>
          <a:xfrm>
            <a:off x="713232" y="1627632"/>
            <a:ext cx="42976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2000" b="0">
                <a:solidFill>
                  <a:srgbClr val="172033"/>
                </a:solidFill>
                <a:latin typeface="Aptos"/>
              </a:rPr>
              <a:t>Q1 1180 1220 +40</a:t>
            </a:r>
          </a:p>
          <a:p>
            <a:pPr>
              <a:spcAft>
                <a:spcPts val="0"/>
              </a:spcAft>
            </a:pPr>
            <a:r>
              <a:rPr sz="2000" b="0">
                <a:solidFill>
                  <a:srgbClr val="172033"/>
                </a:solidFill>
                <a:latin typeface="Aptos"/>
              </a:rPr>
              <a:t>Q2 1285 1320 +35</a:t>
            </a:r>
          </a:p>
          <a:p>
            <a:pPr>
              <a:spcAft>
                <a:spcPts val="0"/>
              </a:spcAft>
            </a:pPr>
            <a:r>
              <a:rPr sz="2000" b="0">
                <a:solidFill>
                  <a:srgbClr val="172033"/>
                </a:solidFill>
                <a:latin typeface="Aptos"/>
              </a:rPr>
              <a:t>Q3 1420 1460 +40</a:t>
            </a:r>
          </a:p>
          <a:p>
            <a:pPr>
              <a:spcAft>
                <a:spcPts val="0"/>
              </a:spcAft>
            </a:pPr>
            <a:r>
              <a:rPr sz="2000" b="0">
                <a:solidFill>
                  <a:srgbClr val="172033"/>
                </a:solidFill>
                <a:latin typeface="Aptos"/>
              </a:rPr>
              <a:t>Q4 1580 1510 -70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577840" y="1627632"/>
            <a:ext cx="5349240" cy="1920240"/>
          </a:xfrm>
          <a:prstGeom prst="roundRect">
            <a:avLst/>
          </a:prstGeom>
          <a:solidFill>
            <a:srgbClr val="E8F7F0"/>
          </a:solidFill>
          <a:ln w="15240">
            <a:solidFill>
              <a:srgbClr val="2A9D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700" b="0">
                <a:solidFill>
                  <a:srgbClr val="172033"/>
                </a:solidFill>
                <a:latin typeface="Aptos"/>
              </a:rPr>
              <a:t>Fields: Quarter | Ticket demand | Staffed capacity | Capacity gap</a:t>
            </a:r>
          </a:p>
          <a:p>
            <a:pPr>
              <a:spcAft>
                <a:spcPts val="0"/>
              </a:spcAft>
            </a:pPr>
            <a:r>
              <a:rPr sz="1700" b="0">
                <a:solidFill>
                  <a:srgbClr val="172033"/>
                </a:solidFill>
                <a:latin typeface="Aptos"/>
              </a:rPr>
              <a:t>Negative gap means demand exceeds staffed capacity.</a:t>
            </a:r>
          </a:p>
          <a:p>
            <a:pPr>
              <a:spcAft>
                <a:spcPts val="0"/>
              </a:spcAft>
            </a:pPr>
            <a:r>
              <a:rPr sz="1700" b="0">
                <a:solidFill>
                  <a:srgbClr val="172033"/>
                </a:solidFill>
                <a:latin typeface="Aptos"/>
              </a:rPr>
              <a:t>Source workbook: source_metrics.xlsx / capacity_forecast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8F2"/>
          </a:solidFill>
          <a:ln w="15240">
            <a:solidFill>
              <a:srgbClr val="FAF8F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F4E79"/>
          </a:solidFill>
          <a:ln w="15240">
            <a:solidFill>
              <a:srgbClr val="1F4E7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438912"/>
            <a:ext cx="5120640" cy="475488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3000" b="1">
                <a:solidFill>
                  <a:srgbClr val="172033"/>
                </a:solidFill>
                <a:latin typeface="Aptos"/>
              </a:rPr>
              <a:t>Protected Benchmark Context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13232" y="1572768"/>
            <a:ext cx="7589520" cy="14173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5E9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73152" rIns="73152" tIns="73152" bIns="73152"/>
          <a:lstStyle/>
          <a:p>
            <a:pPr algn="ctr">
              <a:spcAft>
                <a:spcPts val="0"/>
              </a:spcAft>
            </a:pPr>
            <a:r>
              <a:rPr sz="1800" b="0">
                <a:solidFill>
                  <a:srgbClr val="172033"/>
                </a:solidFill>
                <a:latin typeface="Aptos"/>
              </a:rPr>
              <a:t>Do not edit: native chart package invariant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172033"/>
                </a:solidFill>
                <a:latin typeface="Aptos"/>
              </a:rPr>
              <a:t>This slide exists to detect collateral damage across turns.</a:t>
            </a:r>
          </a:p>
          <a:p>
            <a:pPr>
              <a:spcAft>
                <a:spcPts val="0"/>
              </a:spcAft>
            </a:pPr>
            <a:r>
              <a:rPr sz="1800" b="0">
                <a:solidFill>
                  <a:srgbClr val="172033"/>
                </a:solidFill>
                <a:latin typeface="Aptos"/>
              </a:rPr>
              <a:t>It must remain text-identical to the seed deck.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749039"/>
            <a:ext cx="6309360" cy="402336"/>
          </a:xfrm>
          <a:prstGeom prst="rect">
            <a:avLst/>
          </a:prstGeom>
          <a:noFill/>
        </p:spPr>
        <p:txBody>
          <a:bodyPr wrap="none" lIns="73152" rIns="73152" tIns="73152" bIns="73152">
            <a:spAutoFit/>
          </a:bodyPr>
          <a:lstStyle/>
          <a:p>
            <a:pPr>
              <a:spcAft>
                <a:spcPts val="0"/>
              </a:spcAft>
            </a:pPr>
            <a:r>
              <a:rPr sz="1800" b="0">
                <a:solidFill>
                  <a:srgbClr val="5D7287"/>
                </a:solidFill>
                <a:latin typeface="Aptos"/>
              </a:rPr>
              <a:t>CUIF focus: editable native chart + layout constraints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