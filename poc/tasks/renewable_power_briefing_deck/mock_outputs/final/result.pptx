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rgbClr val="A6CEE3"/>
            </a:solidFill>
          </c:spPr>
          <c:cat>
            <c:strRef>
              <c:f>Sheet1!$A$2:$A$5</c:f>
              <c:strCache>
                <c:ptCount val="4"/>
                <c:pt idx="0">
                  <c:v>Germany</c:v>
                </c:pt>
                <c:pt idx="1">
                  <c:v>India</c:v>
                </c:pt>
                <c:pt idx="2">
                  <c:v>United States</c:v>
                </c:pt>
                <c:pt idx="3">
                  <c:v>China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30.0</c:v>
                </c:pt>
                <c:pt idx="1">
                  <c:v>14.9</c:v>
                </c:pt>
                <c:pt idx="2">
                  <c:v>13.6</c:v>
                </c:pt>
                <c:pt idx="3">
                  <c:v>23.9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Sheet1!$A$2:$A$5</c:f>
              <c:strCache>
                <c:ptCount val="4"/>
                <c:pt idx="0">
                  <c:v>Germany</c:v>
                </c:pt>
                <c:pt idx="1">
                  <c:v>India</c:v>
                </c:pt>
                <c:pt idx="2">
                  <c:v>United States</c:v>
                </c:pt>
                <c:pt idx="3">
                  <c:v>China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39.8</c:v>
                </c:pt>
                <c:pt idx="1">
                  <c:v>19.1</c:v>
                </c:pt>
                <c:pt idx="2">
                  <c:v>20.3</c:v>
                </c:pt>
                <c:pt idx="3">
                  <c:v>28.4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10.0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1_title"/>
          <p:cNvSpPr txBox="1"/>
          <p:nvPr/>
        </p:nvSpPr>
        <p:spPr>
          <a:xfrm>
            <a:off x="585216" y="329184"/>
            <a:ext cx="8138160" cy="6035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Aptos"/>
              </a:rPr>
              <a:t>Renewable Electricity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73152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5D7287"/>
                </a:solidFill>
                <a:latin typeface="Aptos"/>
              </a:rPr>
              <a:t>2015 vs 2021 selected peers</a:t>
            </a:r>
          </a:p>
        </p:txBody>
      </p:sp>
      <p:sp>
        <p:nvSpPr>
          <p:cNvPr id="4" name="data_cut_badge"/>
          <p:cNvSpPr/>
          <p:nvPr/>
        </p:nvSpPr>
        <p:spPr>
          <a:xfrm>
            <a:off x="8942832" y="438912"/>
            <a:ext cx="2331720" cy="4023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8B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ta_cut_badge_text"/>
          <p:cNvSpPr txBox="1"/>
          <p:nvPr/>
        </p:nvSpPr>
        <p:spPr>
          <a:xfrm>
            <a:off x="9144000" y="502920"/>
            <a:ext cx="1938528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100" b="1">
                <a:solidFill>
                  <a:srgbClr val="172033"/>
                </a:solidFill>
                <a:latin typeface="Aptos"/>
              </a:rPr>
              <a:t>Data cut: 2015 vs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7360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1F4E79"/>
                </a:solidFill>
                <a:latin typeface="Aptos"/>
              </a:rPr>
              <a:t>Renewable share of electricity output (%)</a:t>
            </a:r>
          </a:p>
        </p:txBody>
      </p:sp>
      <p:graphicFrame>
        <p:nvGraphicFramePr>
          <p:cNvPr id="7" name="renewable_share_clustered_chart"/>
          <p:cNvGraphicFramePr>
            <a:graphicFrameLocks noGrp="1"/>
          </p:cNvGraphicFramePr>
          <p:nvPr/>
        </p:nvGraphicFramePr>
        <p:xfrm>
          <a:off x="658368" y="1444752"/>
          <a:ext cx="73609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hart_insight"/>
          <p:cNvSpPr txBox="1"/>
          <p:nvPr/>
        </p:nvSpPr>
        <p:spPr>
          <a:xfrm>
            <a:off x="658368" y="5705856"/>
            <a:ext cx="73609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Insight: Germany leads at 39.8% in 2021; the U.S. closes part of the gap with a +6.6 pt 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089904"/>
            <a:ext cx="73609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900" b="0">
                <a:solidFill>
                  <a:srgbClr val="7E8994"/>
                </a:solidFill>
                <a:latin typeface="Aptos"/>
              </a:rPr>
              <a:t>Source: World Bank WDI EG.ELC.RNEW.ZS; latest non-null year in workbook is 2021.</a:t>
            </a:r>
          </a:p>
        </p:txBody>
      </p:sp>
      <p:sp>
        <p:nvSpPr>
          <p:cNvPr id="10" name="observation_rail"/>
          <p:cNvSpPr/>
          <p:nvPr/>
        </p:nvSpPr>
        <p:spPr>
          <a:xfrm>
            <a:off x="8394192" y="1444752"/>
            <a:ext cx="2999232" cy="4224528"/>
          </a:xfrm>
          <a:prstGeom prst="roundRect">
            <a:avLst/>
          </a:prstGeom>
          <a:solidFill>
            <a:srgbClr val="E8F7F0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8512" y="1755648"/>
            <a:ext cx="24688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700" b="1">
                <a:solidFill>
                  <a:srgbClr val="172033"/>
                </a:solidFill>
                <a:latin typeface="Aptos"/>
              </a:rPr>
              <a:t>Key 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2359152"/>
            <a:ext cx="2468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1">
                <a:solidFill>
                  <a:srgbClr val="172033"/>
                </a:solidFill>
                <a:latin typeface="Aptos"/>
              </a:rPr>
              <a:t>Leader: Germany 39.8%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3072384"/>
            <a:ext cx="2468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1">
                <a:solidFill>
                  <a:srgbClr val="172033"/>
                </a:solidFill>
                <a:latin typeface="Aptos"/>
              </a:rPr>
              <a:t>Fastest gain: Germany +9.8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3785615"/>
            <a:ext cx="246888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1">
                <a:solidFill>
                  <a:srgbClr val="172033"/>
                </a:solidFill>
                <a:latin typeface="Aptos"/>
              </a:rPr>
              <a:t>Watch item: U.S. 20.3%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4572000"/>
            <a:ext cx="233172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200" b="0">
                <a:solidFill>
                  <a:srgbClr val="5D7287"/>
                </a:solidFill>
                <a:latin typeface="Aptos"/>
              </a:rPr>
              <a:t>Keep source workbook unchanged.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750" b="0">
                <a:solidFill>
                  <a:srgbClr val="7E8994"/>
                </a:solidFill>
                <a:latin typeface="Aptos"/>
              </a:rPr>
              <a:t>Source: World Bank WDI EG.ELC.RNEW.ZS, accessed 2026-04-27. Values rounded to one decimal.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800" b="1">
                <a:solidFill>
                  <a:srgbClr val="172033"/>
                </a:solidFill>
                <a:latin typeface="Aptos"/>
              </a:rPr>
              <a:t>Workbook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60120"/>
            <a:ext cx="10515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500" b="0">
                <a:solidFill>
                  <a:srgbClr val="5D7287"/>
                </a:solidFill>
                <a:latin typeface="Aptos"/>
              </a:rPr>
              <a:t>Source data: renewable electricity output share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508760"/>
            <a:ext cx="10744200" cy="416966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55648"/>
            <a:ext cx="9509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300" b="1">
                <a:solidFill>
                  <a:srgbClr val="1F4E79"/>
                </a:solidFill>
                <a:latin typeface="Aptos"/>
              </a:rPr>
              <a:t>Country 2015 2021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67712"/>
            <a:ext cx="9509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Germany 30.0 39.8 +9.8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9509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India 14.9 19.1 +4.2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84448"/>
            <a:ext cx="9509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United States 13.6 20.3 +6.6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42816"/>
            <a:ext cx="95097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400" b="1">
                <a:solidFill>
                  <a:srgbClr val="172033"/>
                </a:solidFill>
                <a:latin typeface="Aptos"/>
              </a:rPr>
              <a:t>China 23.9 28.4 +4.6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38928"/>
            <a:ext cx="98755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200" b="0">
                <a:solidFill>
                  <a:srgbClr val="5D7287"/>
                </a:solidFill>
                <a:latin typeface="Aptos"/>
              </a:rPr>
              <a:t>Rows validated from source_data.xlsx selected_countries sheet; chart must use the same rounded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750" b="0">
                <a:solidFill>
                  <a:srgbClr val="7E8994"/>
                </a:solidFill>
                <a:latin typeface="Aptos"/>
              </a:rPr>
              <a:t>Source: World Bank WDI EG.ELC.RNEW.ZS, accessed 2026-04-27. Values rounded to one decimal.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800" b="1">
                <a:solidFill>
                  <a:srgbClr val="172033"/>
                </a:solidFill>
                <a:latin typeface="Aptos"/>
              </a:rPr>
              <a:t>Interpretation guardrails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207008"/>
            <a:ext cx="10698480" cy="4434840"/>
          </a:xfrm>
          <a:prstGeom prst="roundRect">
            <a:avLst/>
          </a:prstGeom>
          <a:solidFill>
            <a:srgbClr val="EAF4FA"/>
          </a:solidFill>
          <a:ln w="15875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554480"/>
            <a:ext cx="99669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Do not overstate causality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066543"/>
            <a:ext cx="9921240" cy="8778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700" b="0">
                <a:solidFill>
                  <a:srgbClr val="172033"/>
                </a:solidFill>
                <a:latin typeface="Aptos"/>
              </a:rPr>
              <a:t>The metric is renewable electricity share of total electricity output. It does not measure economy-wide energy use or emissions intensity.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273552"/>
            <a:ext cx="99669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Aptos"/>
              </a:rPr>
              <a:t>Use a peer-comparison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785615"/>
            <a:ext cx="992124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700" b="0">
                <a:solidFill>
                  <a:srgbClr val="172033"/>
                </a:solidFill>
                <a:latin typeface="Aptos"/>
              </a:rPr>
              <a:t>Final deck should preserve the workbook audit values and cite World Bank WDI.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510528"/>
            <a:ext cx="108813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750" b="0">
                <a:solidFill>
                  <a:srgbClr val="7E8994"/>
                </a:solidFill>
                <a:latin typeface="Aptos"/>
              </a:rPr>
              <a:t>Source: World Bank WDI EG.ELC.RNEW.ZS, accessed 2026-04-27. Values rounded to one decimal.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02920"/>
            <a:ext cx="10972800" cy="5806440"/>
          </a:xfrm>
          <a:prstGeom prst="roundRect">
            <a:avLst/>
          </a:prstGeom>
          <a:solidFill>
            <a:srgbClr val="EAF4FA"/>
          </a:solidFill>
          <a:ln w="15875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60120"/>
            <a:ext cx="99669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600" b="1">
                <a:solidFill>
                  <a:srgbClr val="172033"/>
                </a:solidFill>
                <a:latin typeface="Aptos"/>
              </a:rPr>
              <a:t>Protected benchmark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98755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2400" b="1">
                <a:solidFill>
                  <a:srgbClr val="B74C46"/>
                </a:solidFill>
                <a:latin typeface="Aptos"/>
              </a:rPr>
              <a:t>Do not edit: renewable briefing invariant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51760"/>
            <a:ext cx="987552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rPr sz="1800" b="0">
                <a:solidFill>
                  <a:srgbClr val="5D7287"/>
                </a:solidFill>
                <a:latin typeface="Aptos"/>
              </a:rPr>
              <a:t>This slide anchors collateral-damage checks for the CUIF PoC. It should survive every turn exactly.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