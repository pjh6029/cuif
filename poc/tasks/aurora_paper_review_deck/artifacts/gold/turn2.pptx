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rora-title"/>
          <p:cNvSpPr txBox="1"/>
          <p:nvPr/>
        </p:nvSpPr>
        <p:spPr>
          <a:xfrm>
            <a:off x="502920" y="256032"/>
            <a:ext cx="8183879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200" b="1">
                <a:solidFill>
                  <a:srgbClr val="172033"/>
                </a:solidFill>
              </a:rPr>
              <a:t>AURORA: Actionable UI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50" b="0">
                <a:solidFill>
                  <a:srgbClr val="44546A"/>
                </a:solidFill>
              </a:rPr>
              <a:t>Paper review for CUIF reading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25296"/>
            <a:ext cx="3611880" cy="21762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08176"/>
            <a:ext cx="315468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100" b="1">
                <a:solidFill>
                  <a:srgbClr val="1F4E79"/>
                </a:solidFill>
              </a:rPr>
              <a:t>Main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65376"/>
            <a:ext cx="3154680" cy="8961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172033"/>
                </a:solidFill>
              </a:rPr>
              <a:t>Trajectory-aware office evaluation exposes failures that final-only grading hides.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89504"/>
            <a:ext cx="31546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150" b="0">
                <a:solidFill>
                  <a:srgbClr val="44546A"/>
                </a:solidFill>
              </a:rPr>
              <a:t>Why it matters: the evaluator can see revision quality, not only final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1225296"/>
            <a:ext cx="4187952" cy="21762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1408176"/>
            <a:ext cx="3584448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100" b="1">
                <a:solidFill>
                  <a:srgbClr val="C56A00"/>
                </a:solidFill>
              </a:rPr>
              <a:t>Method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1901952"/>
            <a:ext cx="1024128" cy="512064"/>
          </a:xfrm>
          <a:prstGeom prst="roundRect">
            <a:avLst/>
          </a:prstGeom>
          <a:solidFill>
            <a:srgbClr val="EAF2FB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2039112"/>
            <a:ext cx="932688" cy="2194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830" b="1">
                <a:solidFill>
                  <a:srgbClr val="1F4E79"/>
                </a:solidFill>
              </a:rPr>
              <a:t>Action trace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901952"/>
            <a:ext cx="1261872" cy="512064"/>
          </a:xfrm>
          <a:prstGeom prst="roundRect">
            <a:avLst/>
          </a:prstGeom>
          <a:solidFill>
            <a:srgbClr val="FFF5E6"/>
          </a:solidFill>
          <a:ln w="1651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039112"/>
            <a:ext cx="1170431" cy="2194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830" b="1">
                <a:solidFill>
                  <a:srgbClr val="C56A00"/>
                </a:solidFill>
              </a:rPr>
              <a:t>Rendered 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1901952"/>
            <a:ext cx="877824" cy="512064"/>
          </a:xfrm>
          <a:prstGeom prst="roundRect">
            <a:avLst/>
          </a:prstGeom>
          <a:solidFill>
            <a:srgbClr val="EAF7EF"/>
          </a:solidFill>
          <a:ln w="1651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039112"/>
            <a:ext cx="786384" cy="2194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830" b="1">
                <a:solidFill>
                  <a:srgbClr val="2E7D32"/>
                </a:solidFill>
              </a:rPr>
              <a:t>Structured checks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16752" y="2066543"/>
            <a:ext cx="228600" cy="164592"/>
          </a:xfrm>
          <a:prstGeom prst="rightArrow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07808" y="2066543"/>
            <a:ext cx="228600" cy="164592"/>
          </a:xfrm>
          <a:prstGeom prst="rightArrow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2898648"/>
            <a:ext cx="379476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250" b="0">
                <a:solidFill>
                  <a:srgbClr val="44546A"/>
                </a:solidFill>
              </a:rPr>
              <a:t>Source figure: evaluator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895344"/>
            <a:ext cx="3529584" cy="512064"/>
          </a:xfrm>
          <a:prstGeom prst="roundRect">
            <a:avLst/>
          </a:prstGeom>
          <a:solidFill>
            <a:srgbClr val="FFF5E6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072" y="3986783"/>
            <a:ext cx="3383279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1">
                <a:solidFill>
                  <a:srgbClr val="6B3F00"/>
                </a:solidFill>
              </a:rPr>
              <a:t>Reviewer question: Are multimodal constraints weighted enough?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Evidence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86384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44546A"/>
                </a:solidFill>
              </a:rPr>
              <a:t>Source facts extracted from the paper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9344"/>
            <a:ext cx="2468880" cy="153619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Benchmark: 120 office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Task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09344"/>
            <a:ext cx="2468880" cy="1536192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C56A00"/>
                </a:solidFill>
              </a:rPr>
              <a:t>Signals: screenshots + OOXML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Multimodal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9344"/>
            <a:ext cx="2468880" cy="1536192"/>
          </a:xfrm>
          <a:prstGeom prst="roundRect">
            <a:avLst/>
          </a:prstGeom>
          <a:solidFill>
            <a:srgbClr val="EAF7E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Outcome: +18% repair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Observed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67328"/>
            <a:ext cx="769924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Interpretation: combine visual state, structured artifact data, and per-turn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CUIF evaluation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7726679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44546A"/>
                </a:solidFill>
              </a:rPr>
              <a:t>Each dimension should be scored separately so partial progress remains visible.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63624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Content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63624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Required claims, facts, and exact strings are present.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66544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48840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Layout fidelity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48840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Regions, visual hierarchy, and sketch constraints are followed.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651760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3405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Collateral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34056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Protected slides and non-target content stay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236976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319272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Turn-level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19272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Each revision keeps prior valid work while adding requested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benchmark context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15568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AURORA paper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Evaluation note: this slide must remain text-identical across all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786384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0">
                <a:solidFill>
                  <a:srgbClr val="44546A"/>
                </a:solidFill>
              </a:rPr>
              <a:t>Protected owner: CUIF benchmark 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