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xt_title"/>
          <p:cNvSpPr txBox="1"/>
          <p:nvPr/>
        </p:nvSpPr>
        <p:spPr>
          <a:xfrm>
            <a:off x="502920" y="5029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</a:rPr>
              <a:t>Atlas Reliability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Task A context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6809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Context</a:t>
            </a:r>
          </a:p>
          <a:p>
            <a:r>
              <a:rPr sz="1400" b="0">
                <a:solidFill>
                  <a:srgbClr val="172033"/>
                </a:solidFill>
              </a:rPr>
              <a:t>This deck is used to validate visual-instruction grounding and non-target preservation for editable PPTX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E7C"/>
                </a:solidFill>
              </a:rPr>
              <a:t>Protected slide: preserve exact text in all 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shboard_title"/>
          <p:cNvSpPr txBox="1"/>
          <p:nvPr/>
        </p:nvSpPr>
        <p:spPr>
          <a:xfrm>
            <a:off x="45720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</a:rPr>
              <a:t>Service Reliability Dashboard</a:t>
            </a:r>
          </a:p>
        </p:txBody>
      </p:sp>
      <p:sp>
        <p:nvSpPr>
          <p:cNvPr id="3" name="checkout_metric_tile"/>
          <p:cNvSpPr/>
          <p:nvPr/>
        </p:nvSpPr>
        <p:spPr>
          <a:xfrm>
            <a:off x="411480" y="960120"/>
            <a:ext cx="2377440" cy="822960"/>
          </a:xfrm>
          <a:prstGeom prst="roundRect">
            <a:avLst/>
          </a:prstGeom>
          <a:solidFill>
            <a:srgbClr val="EBF4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Checkout SLA 97.2%</a:t>
            </a:r>
          </a:p>
          <a:p>
            <a:r>
              <a:rPr sz="1200" b="0">
                <a:solidFill>
                  <a:srgbClr val="172033"/>
                </a:solidFill>
              </a:rPr>
              <a:t>Target ≥ 99%</a:t>
            </a:r>
          </a:p>
        </p:txBody>
      </p:sp>
      <p:sp>
        <p:nvSpPr>
          <p:cNvPr id="4" name="backlog_metric_tile"/>
          <p:cNvSpPr/>
          <p:nvPr/>
        </p:nvSpPr>
        <p:spPr>
          <a:xfrm>
            <a:off x="3383280" y="960120"/>
            <a:ext cx="2377440" cy="822960"/>
          </a:xfrm>
          <a:prstGeom prst="roundRect">
            <a:avLst/>
          </a:prstGeom>
          <a:solidFill>
            <a:srgbClr val="EBF7F5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Queue backlog 42</a:t>
            </a:r>
          </a:p>
          <a:p>
            <a:r>
              <a:rPr sz="1200" b="0">
                <a:solidFill>
                  <a:srgbClr val="172033"/>
                </a:solidFill>
              </a:rPr>
              <a:t>Owner gaps</a:t>
            </a:r>
          </a:p>
        </p:txBody>
      </p:sp>
      <p:sp>
        <p:nvSpPr>
          <p:cNvPr id="5" name="fatigue_metric_tile"/>
          <p:cNvSpPr/>
          <p:nvPr/>
        </p:nvSpPr>
        <p:spPr>
          <a:xfrm>
            <a:off x="6355080" y="960120"/>
            <a:ext cx="2377440" cy="82296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Alert fatigue 18%</a:t>
            </a:r>
          </a:p>
          <a:p>
            <a:r>
              <a:rPr sz="1200" b="0">
                <a:solidFill>
                  <a:srgbClr val="172033"/>
                </a:solidFill>
              </a:rPr>
              <a:t>Duplicate pages</a:t>
            </a:r>
          </a:p>
        </p:txBody>
      </p:sp>
      <p:sp>
        <p:nvSpPr>
          <p:cNvPr id="6" name="service_health_trend_panel"/>
          <p:cNvSpPr/>
          <p:nvPr/>
        </p:nvSpPr>
        <p:spPr>
          <a:xfrm>
            <a:off x="457200" y="2057400"/>
            <a:ext cx="5394960" cy="2971800"/>
          </a:xfrm>
          <a:prstGeom prst="roundRect">
            <a:avLst/>
          </a:prstGeom>
          <a:solidFill>
            <a:srgbClr val="F6F8FB"/>
          </a:solidFill>
          <a:ln w="222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172033"/>
                </a:solidFill>
              </a:rPr>
              <a:t>Service health trend</a:t>
            </a:r>
          </a:p>
          <a:p>
            <a:r>
              <a:rPr sz="1300" b="0">
                <a:solidFill>
                  <a:srgbClr val="172033"/>
                </a:solidFill>
              </a:rPr>
              <a:t>Editable trend panel: incidents fell after owner routing was restored.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68680" y="4160520"/>
            <a:ext cx="685800" cy="36576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4160520"/>
            <a:ext cx="731520" cy="18288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86000" y="3931920"/>
            <a:ext cx="731520" cy="41148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3931920"/>
            <a:ext cx="822960" cy="2286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3703320"/>
            <a:ext cx="1325880" cy="4572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ction_owners"/>
          <p:cNvSpPr/>
          <p:nvPr/>
        </p:nvSpPr>
        <p:spPr>
          <a:xfrm>
            <a:off x="6080760" y="2194560"/>
            <a:ext cx="26517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Action owners</a:t>
            </a:r>
          </a:p>
          <a:p>
            <a:r>
              <a:rPr sz="1200" b="0">
                <a:solidFill>
                  <a:srgbClr val="172033"/>
                </a:solidFill>
              </a:rPr>
              <a:t>SRE: Priya</a:t>
            </a:r>
          </a:p>
          <a:p>
            <a:r>
              <a:rPr sz="1200" b="0">
                <a:solidFill>
                  <a:srgbClr val="172033"/>
                </a:solidFill>
              </a:rPr>
              <a:t>Support: Marcus</a:t>
            </a:r>
          </a:p>
          <a:p>
            <a:r>
              <a:rPr sz="1200" b="0">
                <a:solidFill>
                  <a:srgbClr val="172033"/>
                </a:solidFill>
              </a:rPr>
              <a:t>Comms: Lina</a:t>
            </a:r>
          </a:p>
        </p:txBody>
      </p:sp>
      <p:sp>
        <p:nvSpPr>
          <p:cNvPr id="13" name="trend_caption"/>
          <p:cNvSpPr txBox="1"/>
          <p:nvPr/>
        </p:nvSpPr>
        <p:spPr>
          <a:xfrm>
            <a:off x="594360" y="51206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16E7C"/>
                </a:solidFill>
              </a:rPr>
              <a:t>Caption: checkout latency risk is concentrated in owner-routing gaps.</a:t>
            </a:r>
          </a:p>
        </p:txBody>
      </p:sp>
      <p:sp>
        <p:nvSpPr>
          <p:cNvPr id="14" name="checkout_latency_risk"/>
          <p:cNvSpPr/>
          <p:nvPr/>
        </p:nvSpPr>
        <p:spPr>
          <a:xfrm>
            <a:off x="6080760" y="4343400"/>
            <a:ext cx="2651760" cy="1508760"/>
          </a:xfrm>
          <a:prstGeom prst="roundRect">
            <a:avLst/>
          </a:prstGeom>
          <a:solidFill>
            <a:srgbClr val="FFF2EC"/>
          </a:solidFill>
          <a:ln w="1587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Hotspot: checkout latency</a:t>
            </a:r>
          </a:p>
          <a:p>
            <a:r>
              <a:rPr sz="1200" b="0">
                <a:solidFill>
                  <a:srgbClr val="172033"/>
                </a:solidFill>
              </a:rPr>
              <a:t>Escalation owner missing</a:t>
            </a:r>
          </a:p>
          <a:p>
            <a:r>
              <a:rPr sz="1200" b="0">
                <a:solidFill>
                  <a:srgbClr val="172033"/>
                </a:solidFill>
              </a:rPr>
              <a:t>Route rollback owner by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Runbook Evidence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runbook evidence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7223760" cy="22860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Protected evidence</a:t>
            </a:r>
          </a:p>
          <a:p>
            <a:r>
              <a:rPr sz="1400" b="0">
                <a:solidFill>
                  <a:srgbClr val="172033"/>
                </a:solidFill>
              </a:rPr>
              <a:t>• Escalation policy version: 2026-Q2</a:t>
            </a:r>
          </a:p>
          <a:p>
            <a:r>
              <a:rPr sz="1400" b="0">
                <a:solidFill>
                  <a:srgbClr val="172033"/>
                </a:solidFill>
              </a:rPr>
              <a:t>• On-call rotation owner: Platform SRE</a:t>
            </a:r>
          </a:p>
          <a:p>
            <a:r>
              <a:rPr sz="1400" b="0">
                <a:solidFill>
                  <a:srgbClr val="172033"/>
                </a:solidFill>
              </a:rPr>
              <a:t>• Audit ticket: OPS-4721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Benchmark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annotated repair benchmark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72237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Scoring controls</a:t>
            </a:r>
          </a:p>
          <a:p>
            <a:r>
              <a:rPr sz="1400" b="0">
                <a:solidFill>
                  <a:srgbClr val="172033"/>
                </a:solidFill>
              </a:rPr>
              <a:t>This slide should remain unchanged while agents repair the annotated dashboard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