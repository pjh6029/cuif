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7132320" cy="502920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3000" b="1">
                <a:solidFill>
                  <a:srgbClr val="172033"/>
                </a:solidFill>
              </a:rPr>
              <a:t>Nimbus Reliability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987552"/>
            <a:ext cx="6400800" cy="329184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1500" b="0">
                <a:solidFill>
                  <a:srgbClr val="586778"/>
                </a:solidFill>
              </a:rPr>
              <a:t>Executive context for April service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" y="1828800"/>
            <a:ext cx="539496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800" b="0">
                <a:solidFill>
                  <a:srgbClr val="172033"/>
                </a:solidFill>
              </a:rPr>
              <a:t>Scope: support, SRE, and comms readiness
Primary KPI: restore severity-2 ownership discipline
Do not edit: Nimbus context invariant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20840" y="1901952"/>
            <a:ext cx="4480560" cy="530352"/>
          </a:xfrm>
          <a:prstGeom prst="roundRect">
            <a:avLst/>
          </a:prstGeom>
          <a:solidFill>
            <a:srgbClr val="E8F7F0"/>
          </a:solidFill>
          <a:ln w="15875">
            <a:solidFill>
              <a:srgbClr val="6FB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800" b="1">
                <a:solidFill>
                  <a:srgbClr val="172033"/>
                </a:solidFill>
              </a:rPr>
              <a:t>Protected slide for collateral-damage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84848" y="2633472"/>
            <a:ext cx="3749039" cy="384048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1600" b="0">
                <a:solidFill>
                  <a:srgbClr val="586778"/>
                </a:solidFill>
              </a:rPr>
              <a:t>Revision target is slide 2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347472"/>
            <a:ext cx="6400800" cy="438912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2800" b="1">
                <a:solidFill>
                  <a:srgbClr val="172033"/>
                </a:solidFill>
              </a:rPr>
              <a:t>Reliability Operations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841248"/>
            <a:ext cx="8046720" cy="320040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1300" b="0">
                <a:solidFill>
                  <a:srgbClr val="586778"/>
                </a:solidFill>
              </a:rPr>
              <a:t>Seed slide: current layout is crowded and needs the screenshot annotations applied.</a:t>
            </a:r>
          </a:p>
        </p:txBody>
      </p:sp>
      <p:sp>
        <p:nvSpPr>
          <p:cNvPr id="4" name="MTTA 8 min"/>
          <p:cNvSpPr/>
          <p:nvPr/>
        </p:nvSpPr>
        <p:spPr>
          <a:xfrm>
            <a:off x="749808" y="1353312"/>
            <a:ext cx="3063240" cy="694944"/>
          </a:xfrm>
          <a:prstGeom prst="roundRect">
            <a:avLst/>
          </a:prstGeom>
          <a:solidFill>
            <a:srgbClr val="E7F1FB"/>
          </a:solidFill>
          <a:ln w="15875">
            <a:solidFill>
              <a:srgbClr val="AEC1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2000" b="1">
                <a:solidFill>
                  <a:srgbClr val="172033"/>
                </a:solidFill>
              </a:rPr>
              <a:t>MTTA 8 min</a:t>
            </a:r>
          </a:p>
        </p:txBody>
      </p:sp>
      <p:sp>
        <p:nvSpPr>
          <p:cNvPr id="5" name="Backlog 42"/>
          <p:cNvSpPr/>
          <p:nvPr/>
        </p:nvSpPr>
        <p:spPr>
          <a:xfrm>
            <a:off x="7882127" y="1115568"/>
            <a:ext cx="3063240" cy="694944"/>
          </a:xfrm>
          <a:prstGeom prst="roundRect">
            <a:avLst/>
          </a:prstGeom>
          <a:solidFill>
            <a:srgbClr val="E7F1FB"/>
          </a:solidFill>
          <a:ln w="15875">
            <a:solidFill>
              <a:srgbClr val="AEC1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2000" b="1">
                <a:solidFill>
                  <a:srgbClr val="172033"/>
                </a:solidFill>
              </a:rPr>
              <a:t>Backlog 42</a:t>
            </a:r>
          </a:p>
        </p:txBody>
      </p:sp>
      <p:sp>
        <p:nvSpPr>
          <p:cNvPr id="6" name="Coverage 92%"/>
          <p:cNvSpPr/>
          <p:nvPr/>
        </p:nvSpPr>
        <p:spPr>
          <a:xfrm>
            <a:off x="4160520" y="5321808"/>
            <a:ext cx="3063240" cy="694944"/>
          </a:xfrm>
          <a:prstGeom prst="roundRect">
            <a:avLst/>
          </a:prstGeom>
          <a:solidFill>
            <a:srgbClr val="E7F1FB"/>
          </a:solidFill>
          <a:ln w="15875">
            <a:solidFill>
              <a:srgbClr val="AEC1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2000" b="1">
                <a:solidFill>
                  <a:srgbClr val="172033"/>
                </a:solidFill>
              </a:rPr>
              <a:t>Coverage 92%</a:t>
            </a:r>
          </a:p>
        </p:txBody>
      </p:sp>
      <p:sp>
        <p:nvSpPr>
          <p:cNvPr id="7" name="incident_trend_panel_seed"/>
          <p:cNvSpPr/>
          <p:nvPr/>
        </p:nvSpPr>
        <p:spPr>
          <a:xfrm>
            <a:off x="749808" y="3246120"/>
            <a:ext cx="4800600" cy="171907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A7B5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700" b="0">
                <a:solidFill>
                  <a:srgbClr val="172033"/>
                </a:solidFill>
              </a:rPr>
              <a:t>Incident trend
P1 3 | P2 11 | P3 28
Small chart panel: expand and make this the analytical focus.</a:t>
            </a:r>
          </a:p>
        </p:txBody>
      </p:sp>
      <p:sp>
        <p:nvSpPr>
          <p:cNvPr id="8" name="sev2_queue_risk_seed"/>
          <p:cNvSpPr/>
          <p:nvPr/>
        </p:nvSpPr>
        <p:spPr>
          <a:xfrm>
            <a:off x="7717536" y="1828800"/>
            <a:ext cx="3419856" cy="1572768"/>
          </a:xfrm>
          <a:prstGeom prst="roundRect">
            <a:avLst/>
          </a:prstGeom>
          <a:solidFill>
            <a:srgbClr val="FFEFEF"/>
          </a:solidFill>
          <a:ln w="15875">
            <a:solidFill>
              <a:srgbClr val="C13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700" b="0">
                <a:solidFill>
                  <a:srgbClr val="172033"/>
                </a:solidFill>
              </a:rPr>
              <a:t>SEV-2 queue risk
Escalation owner missing
Annotate hotfix owner by Friday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950208"/>
            <a:ext cx="4663440" cy="15361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500" b="0">
                <a:solidFill>
                  <a:srgbClr val="172033"/>
                </a:solidFill>
              </a:rPr>
              <a:t>Unsorted handoff notes
- incidents trending down
- capacity gap weekends
- execs need an owner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4389120" cy="475488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3000" b="1">
                <a:solidFill>
                  <a:srgbClr val="172033"/>
                </a:solidFill>
              </a:rPr>
              <a:t>Runbook Handoff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005840"/>
            <a:ext cx="5303520" cy="365760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1500" b="0">
                <a:solidFill>
                  <a:srgbClr val="586778"/>
                </a:solidFill>
              </a:rPr>
              <a:t>Do not edit: runbook appendix invariant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21208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800" b="0">
                <a:solidFill>
                  <a:srgbClr val="172033"/>
                </a:solidFill>
              </a:rPr>
              <a:t>Escalation ladder
1. Triage lead confirms ownership
2. SRE opens mitigation channel
3. Comms drafts customer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828800"/>
            <a:ext cx="44805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800" b="0">
                <a:solidFill>
                  <a:srgbClr val="172033"/>
                </a:solidFill>
              </a:rPr>
              <a:t>Weekend coverage window
Friday 18:00 to Monday 09:00
Owner rotation remains unchanged.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5029200" cy="475488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3000" b="1">
                <a:solidFill>
                  <a:srgbClr val="172033"/>
                </a:solidFill>
              </a:rPr>
              <a:t>Benchmark Audit Trail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76656" y="1572768"/>
            <a:ext cx="6949440" cy="14264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1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/>
          <a:lstStyle/>
          <a:p>
            <a:pPr algn="ctr"/>
            <a:r>
              <a:rPr sz="1800" b="0">
                <a:solidFill>
                  <a:srgbClr val="172033"/>
                </a:solidFill>
              </a:rPr>
              <a:t>Do not edit: incident response benchmark invariant
Seed slide 2 is the only editable target.
Preserve source narrative and non-target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822191"/>
            <a:ext cx="6126480" cy="457200"/>
          </a:xfrm>
          <a:prstGeom prst="rect">
            <a:avLst/>
          </a:prstGeom>
          <a:noFill/>
        </p:spPr>
        <p:txBody>
          <a:bodyPr wrap="none" lIns="73152" rIns="73152" tIns="73152" bIns="73152">
            <a:spAutoFit/>
          </a:bodyPr>
          <a:lstStyle/>
          <a:p>
            <a:r>
              <a:rPr sz="1800" b="0">
                <a:solidFill>
                  <a:srgbClr val="586778"/>
                </a:solidFill>
              </a:rPr>
              <a:t>CUIF check focus: targeted edit + preservation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